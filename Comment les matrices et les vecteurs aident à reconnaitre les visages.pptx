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0" r:id="rId1"/>
  </p:sldMasterIdLst>
  <p:sldIdLst>
    <p:sldId id="256" r:id="rId2"/>
    <p:sldId id="258" r:id="rId3"/>
    <p:sldId id="259" r:id="rId4"/>
    <p:sldId id="260" r:id="rId5"/>
    <p:sldId id="261" r:id="rId6"/>
    <p:sldId id="280" r:id="rId7"/>
    <p:sldId id="287" r:id="rId8"/>
    <p:sldId id="263" r:id="rId9"/>
    <p:sldId id="284" r:id="rId10"/>
    <p:sldId id="286" r:id="rId11"/>
    <p:sldId id="262" r:id="rId12"/>
    <p:sldId id="291" r:id="rId13"/>
    <p:sldId id="267" r:id="rId14"/>
    <p:sldId id="268" r:id="rId15"/>
    <p:sldId id="292" r:id="rId16"/>
    <p:sldId id="269" r:id="rId17"/>
    <p:sldId id="264" r:id="rId18"/>
    <p:sldId id="270" r:id="rId19"/>
    <p:sldId id="265" r:id="rId20"/>
    <p:sldId id="271" r:id="rId21"/>
    <p:sldId id="272" r:id="rId22"/>
    <p:sldId id="273" r:id="rId23"/>
    <p:sldId id="274" r:id="rId24"/>
    <p:sldId id="275" r:id="rId25"/>
    <p:sldId id="266" r:id="rId26"/>
    <p:sldId id="290" r:id="rId27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3/28/2026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338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3/28/2026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57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3/28/2026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656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3/28/2026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574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3/28/2026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‹N°›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46006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3/28/2026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71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846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3/28/2026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‹N°›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97457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3/28/2026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‹N°›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64607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3/28/2026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942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3/28/2026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32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3/28/2026</a:t>
            </a:fld>
            <a:endParaRPr lang="en-US" spc="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215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bssm.ulb.ac.be/data/books/Bssm-2011-Germain-Van-Bever.pdf" TargetMode="External"/><Relationship Id="rId2" Type="http://schemas.openxmlformats.org/officeDocument/2006/relationships/hyperlink" Target="https://dspace.univ-ouargla.dz/jspui/bitstream/123456789/5237/1/BETTAHAR-SABER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fr.wikipedia.org/wiki/Syst%C3%A8me_de_reconnaissance_faciale" TargetMode="External"/><Relationship Id="rId4" Type="http://schemas.openxmlformats.org/officeDocument/2006/relationships/hyperlink" Target="https://penseeartificielle.fr/tp-reconnaissance-facial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Visage humain, personne, capture d’écran, Front&#10;&#10;Le contenu généré par l’IA peut être incorrect.">
            <a:extLst>
              <a:ext uri="{FF2B5EF4-FFF2-40B4-BE49-F238E27FC236}">
                <a16:creationId xmlns:a16="http://schemas.microsoft.com/office/drawing/2014/main" id="{9B7741D2-EDC5-4358-5628-61E081B3FB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" r="679" b="11006"/>
          <a:stretch>
            <a:fillRect/>
          </a:stretch>
        </p:blipFill>
        <p:spPr>
          <a:xfrm>
            <a:off x="-2725" y="-422189"/>
            <a:ext cx="12219343" cy="729453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900" y="251813"/>
            <a:ext cx="6360670" cy="2027321"/>
          </a:xfrm>
        </p:spPr>
        <p:txBody>
          <a:bodyPr anchor="t">
            <a:noAutofit/>
          </a:bodyPr>
          <a:lstStyle/>
          <a:p>
            <a:r>
              <a:rPr lang="en-GB" sz="4000" b="1" u="sng">
                <a:latin typeface="Rockwell"/>
                <a:ea typeface="+mj-lt"/>
                <a:cs typeface="+mj-lt"/>
              </a:rPr>
              <a:t>Du pixel au visage</a:t>
            </a:r>
            <a:br>
              <a:rPr lang="en-GB" sz="4000" b="1" u="sng">
                <a:latin typeface="Rockwell"/>
                <a:ea typeface="+mj-lt"/>
                <a:cs typeface="+mj-lt"/>
              </a:rPr>
            </a:br>
            <a:r>
              <a:rPr lang="en-GB" sz="3200">
                <a:latin typeface="Rockwell"/>
                <a:ea typeface="+mj-lt"/>
                <a:cs typeface="+mj-lt"/>
              </a:rPr>
              <a:t>Comment les matrices et les </a:t>
            </a:r>
            <a:r>
              <a:rPr lang="en-GB" sz="3200" err="1">
                <a:latin typeface="Rockwell"/>
                <a:ea typeface="+mj-lt"/>
                <a:cs typeface="+mj-lt"/>
              </a:rPr>
              <a:t>vecteurs</a:t>
            </a:r>
            <a:r>
              <a:rPr lang="en-GB" sz="3200">
                <a:latin typeface="Rockwell"/>
                <a:ea typeface="+mj-lt"/>
                <a:cs typeface="+mj-lt"/>
              </a:rPr>
              <a:t> </a:t>
            </a:r>
            <a:r>
              <a:rPr lang="en-GB" sz="3200" err="1">
                <a:latin typeface="Rockwell"/>
                <a:ea typeface="+mj-lt"/>
                <a:cs typeface="+mj-lt"/>
              </a:rPr>
              <a:t>aident</a:t>
            </a:r>
            <a:r>
              <a:rPr lang="en-GB" sz="3200">
                <a:latin typeface="Rockwell"/>
                <a:ea typeface="+mj-lt"/>
                <a:cs typeface="+mj-lt"/>
              </a:rPr>
              <a:t> à </a:t>
            </a:r>
            <a:r>
              <a:rPr lang="en-GB" sz="3200" err="1">
                <a:latin typeface="Rockwell"/>
                <a:ea typeface="+mj-lt"/>
                <a:cs typeface="+mj-lt"/>
              </a:rPr>
              <a:t>reconnaître</a:t>
            </a:r>
            <a:r>
              <a:rPr lang="en-GB" sz="3200">
                <a:latin typeface="Rockwell"/>
                <a:ea typeface="+mj-lt"/>
                <a:cs typeface="+mj-lt"/>
              </a:rPr>
              <a:t> les visages ?</a:t>
            </a:r>
            <a:endParaRPr lang="en-US" sz="3200">
              <a:latin typeface="Rockwell"/>
              <a:ea typeface="+mj-lt"/>
              <a:cs typeface="+mj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9052" y="5560116"/>
            <a:ext cx="5842468" cy="992029"/>
          </a:xfrm>
        </p:spPr>
        <p:txBody>
          <a:bodyPr anchor="t">
            <a:normAutofit fontScale="40000" lnSpcReduction="20000"/>
          </a:bodyPr>
          <a:lstStyle/>
          <a:p>
            <a:pPr algn="l"/>
            <a:r>
              <a:rPr lang="en-GB" err="1">
                <a:solidFill>
                  <a:srgbClr val="FFFFFF"/>
                </a:solidFill>
                <a:latin typeface="Rockwell"/>
              </a:rPr>
              <a:t>Bounzou</a:t>
            </a:r>
            <a:r>
              <a:rPr lang="en-GB">
                <a:solidFill>
                  <a:srgbClr val="FFFFFF"/>
                </a:solidFill>
                <a:latin typeface="Rockwell"/>
              </a:rPr>
              <a:t> Kenz</a:t>
            </a:r>
          </a:p>
          <a:p>
            <a:pPr algn="l"/>
            <a:r>
              <a:rPr lang="en-GB">
                <a:solidFill>
                  <a:srgbClr val="FFFFFF"/>
                </a:solidFill>
                <a:latin typeface="Rockwell"/>
              </a:rPr>
              <a:t>Koucha </a:t>
            </a:r>
            <a:r>
              <a:rPr lang="en-GB" err="1">
                <a:solidFill>
                  <a:srgbClr val="FFFFFF"/>
                </a:solidFill>
                <a:latin typeface="Rockwell"/>
              </a:rPr>
              <a:t>Amazir</a:t>
            </a:r>
            <a:endParaRPr lang="en-GB">
              <a:solidFill>
                <a:srgbClr val="FFFFFF"/>
              </a:solidFill>
              <a:latin typeface="Rockwell"/>
            </a:endParaRPr>
          </a:p>
          <a:p>
            <a:pPr algn="l"/>
            <a:r>
              <a:rPr lang="en-GB">
                <a:solidFill>
                  <a:srgbClr val="FFFFFF"/>
                </a:solidFill>
                <a:latin typeface="Rockwell"/>
              </a:rPr>
              <a:t>Nanthagopalan Thanus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ollage of people with lines drawn on their faces&#10;&#10;AI-generated content may be incorrect.">
            <a:extLst>
              <a:ext uri="{FF2B5EF4-FFF2-40B4-BE49-F238E27FC236}">
                <a16:creationId xmlns:a16="http://schemas.microsoft.com/office/drawing/2014/main" id="{860A73DA-C7B7-C423-4C88-CE57FAEDE4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049" t="-456" r="19926" b="228"/>
          <a:stretch/>
        </p:blipFill>
        <p:spPr>
          <a:xfrm>
            <a:off x="20" y="2267712"/>
            <a:ext cx="5102375" cy="460065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91E7A-F982-7597-174D-BD15CA51B2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42133" y="2635930"/>
            <a:ext cx="6849591" cy="441420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sz="1900" b="1">
                <a:latin typeface="Rockwell"/>
                <a:ea typeface="+mn-lt"/>
                <a:cs typeface="+mn-lt"/>
              </a:rPr>
              <a:t>Un visage </a:t>
            </a:r>
            <a:r>
              <a:rPr lang="en-GB" sz="1900" b="1" err="1">
                <a:latin typeface="Rockwell"/>
                <a:ea typeface="+mn-lt"/>
                <a:cs typeface="+mn-lt"/>
              </a:rPr>
              <a:t>est</a:t>
            </a:r>
            <a:r>
              <a:rPr lang="en-GB" sz="1900" b="1">
                <a:latin typeface="Rockwell"/>
                <a:ea typeface="+mn-lt"/>
                <a:cs typeface="+mn-lt"/>
              </a:rPr>
              <a:t> </a:t>
            </a:r>
            <a:r>
              <a:rPr lang="en-GB" sz="1900" b="1" err="1">
                <a:latin typeface="Rockwell"/>
                <a:ea typeface="+mn-lt"/>
                <a:cs typeface="+mn-lt"/>
              </a:rPr>
              <a:t>instantanément</a:t>
            </a:r>
            <a:r>
              <a:rPr lang="en-GB" sz="1900" b="1">
                <a:latin typeface="Rockwell"/>
                <a:ea typeface="+mn-lt"/>
                <a:cs typeface="+mn-lt"/>
              </a:rPr>
              <a:t> </a:t>
            </a:r>
            <a:r>
              <a:rPr lang="en-GB" sz="1900" b="1" err="1">
                <a:latin typeface="Rockwell"/>
                <a:ea typeface="+mn-lt"/>
                <a:cs typeface="+mn-lt"/>
              </a:rPr>
              <a:t>reconnu</a:t>
            </a:r>
            <a:r>
              <a:rPr lang="en-GB" sz="1900" b="1">
                <a:latin typeface="Rockwell"/>
                <a:ea typeface="+mn-lt"/>
                <a:cs typeface="+mn-lt"/>
              </a:rPr>
              <a:t> par un </a:t>
            </a:r>
            <a:r>
              <a:rPr lang="en-GB" sz="1900" b="1" err="1">
                <a:latin typeface="Rockwell"/>
                <a:ea typeface="+mn-lt"/>
                <a:cs typeface="+mn-lt"/>
              </a:rPr>
              <a:t>humain</a:t>
            </a:r>
            <a:r>
              <a:rPr lang="en-GB" sz="1900" b="1">
                <a:latin typeface="Rockwell"/>
                <a:ea typeface="+mn-lt"/>
                <a:cs typeface="+mn-lt"/>
              </a:rPr>
              <a:t>… </a:t>
            </a:r>
            <a:r>
              <a:rPr lang="en-GB" sz="1900" b="1" err="1">
                <a:latin typeface="Rockwell"/>
                <a:ea typeface="+mn-lt"/>
                <a:cs typeface="+mn-lt"/>
              </a:rPr>
              <a:t>mais</a:t>
            </a:r>
            <a:r>
              <a:rPr lang="en-GB" sz="1900" b="1">
                <a:latin typeface="Rockwell"/>
                <a:ea typeface="+mn-lt"/>
                <a:cs typeface="+mn-lt"/>
              </a:rPr>
              <a:t> pour </a:t>
            </a:r>
            <a:r>
              <a:rPr lang="en-GB" sz="1900" b="1" err="1">
                <a:latin typeface="Rockwell"/>
                <a:ea typeface="+mn-lt"/>
                <a:cs typeface="+mn-lt"/>
              </a:rPr>
              <a:t>une</a:t>
            </a:r>
            <a:r>
              <a:rPr lang="en-GB" sz="1900" b="1">
                <a:latin typeface="Rockwell"/>
                <a:ea typeface="+mn-lt"/>
                <a:cs typeface="+mn-lt"/>
              </a:rPr>
              <a:t> machine, </a:t>
            </a:r>
            <a:r>
              <a:rPr lang="en-GB" sz="1900" b="1" err="1">
                <a:latin typeface="Rockwell"/>
                <a:ea typeface="+mn-lt"/>
                <a:cs typeface="+mn-lt"/>
              </a:rPr>
              <a:t>c’est</a:t>
            </a:r>
            <a:r>
              <a:rPr lang="en-GB" sz="1900" b="1">
                <a:latin typeface="Rockwell"/>
                <a:ea typeface="+mn-lt"/>
                <a:cs typeface="+mn-lt"/>
              </a:rPr>
              <a:t> un </a:t>
            </a:r>
            <a:r>
              <a:rPr lang="en-GB" sz="1900" b="1" err="1">
                <a:latin typeface="Rockwell"/>
                <a:ea typeface="+mn-lt"/>
                <a:cs typeface="+mn-lt"/>
              </a:rPr>
              <a:t>vrai</a:t>
            </a:r>
            <a:r>
              <a:rPr lang="en-GB" sz="1900" b="1">
                <a:latin typeface="Rockwell"/>
                <a:ea typeface="+mn-lt"/>
                <a:cs typeface="+mn-lt"/>
              </a:rPr>
              <a:t> </a:t>
            </a:r>
            <a:r>
              <a:rPr lang="en-GB" sz="1900" b="1" err="1">
                <a:latin typeface="Rockwell"/>
                <a:ea typeface="+mn-lt"/>
                <a:cs typeface="+mn-lt"/>
              </a:rPr>
              <a:t>défi</a:t>
            </a:r>
            <a:r>
              <a:rPr lang="en-GB" sz="1900" b="1">
                <a:latin typeface="Rockwell"/>
                <a:ea typeface="+mn-lt"/>
                <a:cs typeface="+mn-lt"/>
              </a:rPr>
              <a:t> !</a:t>
            </a:r>
            <a:endParaRPr lang="en-US" sz="1900" b="1">
              <a:latin typeface="Rockwell"/>
              <a:ea typeface="+mn-lt"/>
              <a:cs typeface="+mn-lt"/>
            </a:endParaRPr>
          </a:p>
          <a:p>
            <a:br>
              <a:rPr lang="en-GB" sz="1900" b="1">
                <a:latin typeface="Rockwell"/>
                <a:ea typeface="+mn-lt"/>
                <a:cs typeface="+mn-lt"/>
              </a:rPr>
            </a:br>
            <a:r>
              <a:rPr lang="en-GB" sz="1900" b="1">
                <a:latin typeface="Rockwell"/>
                <a:ea typeface="+mn-lt"/>
                <a:cs typeface="+mn-lt"/>
              </a:rPr>
              <a:t> Comment un </a:t>
            </a:r>
            <a:r>
              <a:rPr lang="en-GB" sz="1900" b="1" err="1">
                <a:latin typeface="Rockwell"/>
                <a:ea typeface="+mn-lt"/>
                <a:cs typeface="+mn-lt"/>
              </a:rPr>
              <a:t>ordinateur</a:t>
            </a:r>
            <a:r>
              <a:rPr lang="en-GB" sz="1900" b="1">
                <a:latin typeface="Rockwell"/>
                <a:ea typeface="+mn-lt"/>
                <a:cs typeface="+mn-lt"/>
              </a:rPr>
              <a:t> </a:t>
            </a:r>
            <a:r>
              <a:rPr lang="en-GB" sz="1900" b="1" err="1">
                <a:latin typeface="Rockwell"/>
                <a:ea typeface="+mn-lt"/>
                <a:cs typeface="+mn-lt"/>
              </a:rPr>
              <a:t>peut</a:t>
            </a:r>
            <a:r>
              <a:rPr lang="en-GB" sz="1900" b="1">
                <a:latin typeface="Rockwell"/>
                <a:ea typeface="+mn-lt"/>
                <a:cs typeface="+mn-lt"/>
              </a:rPr>
              <a:t>-il identifier </a:t>
            </a:r>
            <a:r>
              <a:rPr lang="en-GB" sz="1900" b="1" err="1">
                <a:latin typeface="Rockwell"/>
                <a:ea typeface="+mn-lt"/>
                <a:cs typeface="+mn-lt"/>
              </a:rPr>
              <a:t>une</a:t>
            </a:r>
            <a:r>
              <a:rPr lang="en-GB" sz="1900" b="1">
                <a:latin typeface="Rockwell"/>
                <a:ea typeface="+mn-lt"/>
                <a:cs typeface="+mn-lt"/>
              </a:rPr>
              <a:t> </a:t>
            </a:r>
            <a:r>
              <a:rPr lang="en-GB" sz="1900" b="1" err="1">
                <a:latin typeface="Rockwell"/>
                <a:ea typeface="+mn-lt"/>
                <a:cs typeface="+mn-lt"/>
              </a:rPr>
              <a:t>personne</a:t>
            </a:r>
            <a:r>
              <a:rPr lang="en-GB" sz="1900" b="1">
                <a:latin typeface="Rockwell"/>
                <a:ea typeface="+mn-lt"/>
                <a:cs typeface="+mn-lt"/>
              </a:rPr>
              <a:t> à </a:t>
            </a:r>
            <a:r>
              <a:rPr lang="en-GB" sz="1900" b="1" err="1">
                <a:latin typeface="Rockwell"/>
                <a:ea typeface="+mn-lt"/>
                <a:cs typeface="+mn-lt"/>
              </a:rPr>
              <a:t>partir</a:t>
            </a:r>
            <a:r>
              <a:rPr lang="en-GB" sz="1900" b="1">
                <a:latin typeface="Rockwell"/>
                <a:ea typeface="+mn-lt"/>
                <a:cs typeface="+mn-lt"/>
              </a:rPr>
              <a:t> </a:t>
            </a:r>
            <a:r>
              <a:rPr lang="en-GB" sz="1900" b="1" err="1">
                <a:latin typeface="Rockwell"/>
                <a:ea typeface="+mn-lt"/>
                <a:cs typeface="+mn-lt"/>
              </a:rPr>
              <a:t>d’une</a:t>
            </a:r>
            <a:r>
              <a:rPr lang="en-GB" sz="1900" b="1">
                <a:latin typeface="Rockwell"/>
                <a:ea typeface="+mn-lt"/>
                <a:cs typeface="+mn-lt"/>
              </a:rPr>
              <a:t> simple image ?</a:t>
            </a:r>
            <a:endParaRPr lang="en-US" sz="1900" b="1">
              <a:latin typeface="Rockwell"/>
              <a:ea typeface="+mn-lt"/>
              <a:cs typeface="+mn-lt"/>
            </a:endParaRPr>
          </a:p>
          <a:p>
            <a:r>
              <a:rPr lang="en-GB" sz="1900">
                <a:latin typeface="Rockwell"/>
                <a:ea typeface="+mn-lt"/>
                <a:cs typeface="+mn-lt"/>
              </a:rPr>
              <a:t>Une image doit </a:t>
            </a:r>
            <a:r>
              <a:rPr lang="en-GB" sz="1900" err="1">
                <a:latin typeface="Rockwell"/>
                <a:ea typeface="+mn-lt"/>
                <a:cs typeface="+mn-lt"/>
              </a:rPr>
              <a:t>d’abord</a:t>
            </a:r>
            <a:r>
              <a:rPr lang="en-GB" sz="1900">
                <a:latin typeface="Rockwell"/>
                <a:ea typeface="+mn-lt"/>
                <a:cs typeface="+mn-lt"/>
              </a:rPr>
              <a:t> </a:t>
            </a:r>
            <a:r>
              <a:rPr lang="en-GB" sz="1900" err="1">
                <a:latin typeface="Rockwell"/>
                <a:ea typeface="+mn-lt"/>
                <a:cs typeface="+mn-lt"/>
              </a:rPr>
              <a:t>être</a:t>
            </a:r>
            <a:r>
              <a:rPr lang="en-GB" sz="1900">
                <a:latin typeface="Rockwell"/>
                <a:ea typeface="+mn-lt"/>
                <a:cs typeface="+mn-lt"/>
              </a:rPr>
              <a:t> </a:t>
            </a:r>
            <a:r>
              <a:rPr lang="en-GB" sz="1900" err="1">
                <a:latin typeface="Rockwell"/>
                <a:ea typeface="+mn-lt"/>
                <a:cs typeface="+mn-lt"/>
              </a:rPr>
              <a:t>transformée</a:t>
            </a:r>
            <a:r>
              <a:rPr lang="en-GB" sz="1900">
                <a:latin typeface="Rockwell"/>
                <a:ea typeface="+mn-lt"/>
                <a:cs typeface="+mn-lt"/>
              </a:rPr>
              <a:t> :</a:t>
            </a:r>
            <a:endParaRPr lang="en-GB" sz="1900">
              <a:latin typeface="Rockwell"/>
            </a:endParaRPr>
          </a:p>
          <a:p>
            <a:pPr marL="285750" indent="-285750">
              <a:buFont typeface="Arial"/>
              <a:buChar char="•"/>
            </a:pPr>
            <a:r>
              <a:rPr lang="en-GB" sz="1900" err="1">
                <a:latin typeface="Rockwell"/>
                <a:ea typeface="+mn-lt"/>
                <a:cs typeface="+mn-lt"/>
              </a:rPr>
              <a:t>Convertie</a:t>
            </a:r>
            <a:r>
              <a:rPr lang="en-GB" sz="1900">
                <a:latin typeface="Rockwell"/>
                <a:ea typeface="+mn-lt"/>
                <a:cs typeface="+mn-lt"/>
              </a:rPr>
              <a:t> </a:t>
            </a:r>
            <a:r>
              <a:rPr lang="en-GB" sz="1900" err="1">
                <a:latin typeface="Rockwell"/>
                <a:ea typeface="+mn-lt"/>
                <a:cs typeface="+mn-lt"/>
              </a:rPr>
              <a:t>en</a:t>
            </a:r>
            <a:r>
              <a:rPr lang="en-GB" sz="1900">
                <a:latin typeface="Rockwell"/>
                <a:ea typeface="+mn-lt"/>
                <a:cs typeface="+mn-lt"/>
              </a:rPr>
              <a:t> </a:t>
            </a:r>
            <a:r>
              <a:rPr lang="en-GB" sz="1900" err="1">
                <a:latin typeface="Rockwell"/>
                <a:ea typeface="+mn-lt"/>
                <a:cs typeface="+mn-lt"/>
              </a:rPr>
              <a:t>niveaux</a:t>
            </a:r>
            <a:r>
              <a:rPr lang="en-GB" sz="1900">
                <a:latin typeface="Rockwell"/>
                <a:ea typeface="+mn-lt"/>
                <a:cs typeface="+mn-lt"/>
              </a:rPr>
              <a:t> de gris</a:t>
            </a:r>
          </a:p>
          <a:p>
            <a:pPr marL="285750" indent="-285750">
              <a:buFont typeface="Arial"/>
              <a:buChar char="•"/>
            </a:pPr>
            <a:r>
              <a:rPr lang="en-GB" sz="1900" err="1">
                <a:latin typeface="Rockwell"/>
                <a:ea typeface="+mn-lt"/>
                <a:cs typeface="+mn-lt"/>
              </a:rPr>
              <a:t>Vectorisée</a:t>
            </a:r>
            <a:endParaRPr lang="en-GB" sz="1900">
              <a:latin typeface="Rockwell"/>
            </a:endParaRPr>
          </a:p>
          <a:p>
            <a:r>
              <a:rPr lang="en-GB" sz="1900">
                <a:latin typeface="Rockwell"/>
                <a:ea typeface="+mn-lt"/>
                <a:cs typeface="+mn-lt"/>
              </a:rPr>
              <a:t>Usage </a:t>
            </a:r>
            <a:r>
              <a:rPr lang="en-GB" sz="1900" err="1">
                <a:latin typeface="Rockwell"/>
                <a:ea typeface="+mn-lt"/>
                <a:cs typeface="+mn-lt"/>
              </a:rPr>
              <a:t>d'outils</a:t>
            </a:r>
            <a:r>
              <a:rPr lang="en-GB" sz="1900">
                <a:latin typeface="Rockwell"/>
                <a:ea typeface="+mn-lt"/>
                <a:cs typeface="+mn-lt"/>
              </a:rPr>
              <a:t> </a:t>
            </a:r>
            <a:r>
              <a:rPr lang="en-GB" sz="1900" err="1">
                <a:latin typeface="Rockwell"/>
                <a:ea typeface="+mn-lt"/>
                <a:cs typeface="+mn-lt"/>
              </a:rPr>
              <a:t>mathématiques</a:t>
            </a:r>
            <a:r>
              <a:rPr lang="en-GB" sz="1900">
                <a:latin typeface="Rockwell"/>
                <a:ea typeface="+mn-lt"/>
                <a:cs typeface="+mn-lt"/>
              </a:rPr>
              <a:t> </a:t>
            </a:r>
            <a:r>
              <a:rPr lang="en-GB" sz="1900" err="1">
                <a:latin typeface="Rockwell"/>
                <a:ea typeface="+mn-lt"/>
                <a:cs typeface="+mn-lt"/>
              </a:rPr>
              <a:t>avancés</a:t>
            </a:r>
            <a:r>
              <a:rPr lang="en-GB" sz="1900">
                <a:latin typeface="Rockwell"/>
                <a:ea typeface="+mn-lt"/>
                <a:cs typeface="+mn-lt"/>
              </a:rPr>
              <a:t> :</a:t>
            </a:r>
          </a:p>
          <a:p>
            <a:r>
              <a:rPr lang="en-GB" sz="1900">
                <a:latin typeface="Rockwell"/>
                <a:ea typeface="+mn-lt"/>
                <a:cs typeface="+mn-lt"/>
              </a:rPr>
              <a:t>— </a:t>
            </a:r>
            <a:r>
              <a:rPr lang="en-GB" sz="1900" err="1">
                <a:latin typeface="Rockwell"/>
                <a:ea typeface="+mn-lt"/>
                <a:cs typeface="+mn-lt"/>
              </a:rPr>
              <a:t>algèbre</a:t>
            </a:r>
            <a:r>
              <a:rPr lang="en-GB" sz="1900">
                <a:latin typeface="Rockwell"/>
                <a:ea typeface="+mn-lt"/>
                <a:cs typeface="+mn-lt"/>
              </a:rPr>
              <a:t> </a:t>
            </a:r>
            <a:r>
              <a:rPr lang="en-GB" sz="1900" err="1">
                <a:latin typeface="Rockwell"/>
                <a:ea typeface="+mn-lt"/>
                <a:cs typeface="+mn-lt"/>
              </a:rPr>
              <a:t>linéaire</a:t>
            </a:r>
            <a:r>
              <a:rPr lang="en-GB" sz="1900">
                <a:latin typeface="Rockwell"/>
                <a:ea typeface="+mn-lt"/>
                <a:cs typeface="+mn-lt"/>
              </a:rPr>
              <a:t>, </a:t>
            </a:r>
            <a:r>
              <a:rPr lang="en-GB" sz="1900" err="1">
                <a:latin typeface="Rockwell"/>
                <a:ea typeface="+mn-lt"/>
                <a:cs typeface="+mn-lt"/>
              </a:rPr>
              <a:t>géométrie</a:t>
            </a:r>
            <a:r>
              <a:rPr lang="en-GB" sz="1900">
                <a:latin typeface="Rockwell"/>
                <a:ea typeface="+mn-lt"/>
                <a:cs typeface="+mn-lt"/>
              </a:rPr>
              <a:t> </a:t>
            </a:r>
            <a:r>
              <a:rPr lang="en-GB" sz="1900" err="1">
                <a:latin typeface="Rockwell"/>
                <a:ea typeface="+mn-lt"/>
                <a:cs typeface="+mn-lt"/>
              </a:rPr>
              <a:t>ou</a:t>
            </a:r>
            <a:r>
              <a:rPr lang="en-GB" sz="1900">
                <a:latin typeface="Rockwell"/>
                <a:ea typeface="+mn-lt"/>
                <a:cs typeface="+mn-lt"/>
              </a:rPr>
              <a:t> </a:t>
            </a:r>
            <a:r>
              <a:rPr lang="en-GB" sz="1900" err="1">
                <a:latin typeface="Rockwell"/>
                <a:ea typeface="+mn-lt"/>
                <a:cs typeface="+mn-lt"/>
              </a:rPr>
              <a:t>statistiques</a:t>
            </a:r>
            <a:endParaRPr lang="en-GB" sz="1900" err="1">
              <a:latin typeface="Rockwell"/>
            </a:endParaRPr>
          </a:p>
          <a:p>
            <a:pPr>
              <a:lnSpc>
                <a:spcPct val="91000"/>
              </a:lnSpc>
            </a:pPr>
            <a:endParaRPr lang="en-GB" sz="1600">
              <a:latin typeface="Rockwell"/>
            </a:endParaRPr>
          </a:p>
          <a:p>
            <a:pPr>
              <a:lnSpc>
                <a:spcPct val="91000"/>
              </a:lnSpc>
            </a:pPr>
            <a:endParaRPr lang="en-GB" sz="15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2D7FD5-6AC0-0D9A-2956-D9651938B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643" y="329537"/>
            <a:ext cx="10268712" cy="1700784"/>
          </a:xfrm>
        </p:spPr>
        <p:txBody>
          <a:bodyPr anchor="ctr">
            <a:normAutofit/>
          </a:bodyPr>
          <a:lstStyle/>
          <a:p>
            <a:r>
              <a:rPr lang="en-GB" u="sng" err="1">
                <a:latin typeface="Rockwell"/>
              </a:rPr>
              <a:t>introducTION</a:t>
            </a:r>
            <a:endParaRPr lang="en-GB" u="sng">
              <a:latin typeface="Rockwell"/>
            </a:endParaRPr>
          </a:p>
        </p:txBody>
      </p:sp>
    </p:spTree>
    <p:extLst>
      <p:ext uri="{BB962C8B-B14F-4D97-AF65-F5344CB8AC3E}">
        <p14:creationId xmlns:p14="http://schemas.microsoft.com/office/powerpoint/2010/main" val="930669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5733067-31AE-31AC-49C6-674CD99BE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>
            <a:normAutofit/>
          </a:bodyPr>
          <a:lstStyle/>
          <a:p>
            <a:r>
              <a:rPr lang="en-US" sz="4800" b="1" err="1">
                <a:latin typeface="Rockwell"/>
              </a:rPr>
              <a:t>Sommaire</a:t>
            </a:r>
            <a:endParaRPr lang="en-US" sz="4800" b="1">
              <a:latin typeface="Rockwell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182C404-A09B-8FB0-C22F-29C47733E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2587752"/>
            <a:ext cx="11115378" cy="37448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romanUcPeriod"/>
            </a:pPr>
            <a:r>
              <a:rPr lang="en-US" b="1" err="1">
                <a:latin typeface="Rockwell"/>
                <a:ea typeface="+mn-lt"/>
                <a:cs typeface="+mn-lt"/>
              </a:rPr>
              <a:t>Représentation</a:t>
            </a:r>
            <a:r>
              <a:rPr lang="en-US" b="1">
                <a:latin typeface="Rockwell"/>
                <a:ea typeface="+mn-lt"/>
                <a:cs typeface="+mn-lt"/>
              </a:rPr>
              <a:t> </a:t>
            </a:r>
            <a:r>
              <a:rPr lang="en-US" b="1" err="1">
                <a:latin typeface="Rockwell"/>
                <a:ea typeface="+mn-lt"/>
                <a:cs typeface="+mn-lt"/>
              </a:rPr>
              <a:t>mathématique</a:t>
            </a:r>
            <a:r>
              <a:rPr lang="en-US" b="1">
                <a:latin typeface="Rockwell"/>
                <a:ea typeface="+mn-lt"/>
                <a:cs typeface="+mn-lt"/>
              </a:rPr>
              <a:t> des images</a:t>
            </a:r>
            <a:endParaRPr lang="en-US" b="1">
              <a:latin typeface="Rockwell"/>
            </a:endParaRPr>
          </a:p>
          <a:p>
            <a:pPr marL="514350" indent="-514350">
              <a:buAutoNum type="romanUcPeriod"/>
            </a:pPr>
            <a:r>
              <a:rPr lang="en-US" b="1">
                <a:latin typeface="Rockwell"/>
                <a:ea typeface="+mn-lt"/>
                <a:cs typeface="Arial"/>
              </a:rPr>
              <a:t>Matrice de covariance et </a:t>
            </a:r>
            <a:r>
              <a:rPr lang="en-US" b="1" err="1">
                <a:latin typeface="Rockwell"/>
                <a:ea typeface="+mn-lt"/>
                <a:cs typeface="Arial"/>
              </a:rPr>
              <a:t>complexité</a:t>
            </a:r>
            <a:r>
              <a:rPr lang="en-US" b="1">
                <a:latin typeface="Rockwell"/>
                <a:ea typeface="+mn-lt"/>
                <a:cs typeface="Arial"/>
              </a:rPr>
              <a:t> </a:t>
            </a:r>
            <a:r>
              <a:rPr lang="en-US" b="1" err="1">
                <a:latin typeface="Rockwell"/>
                <a:ea typeface="+mn-lt"/>
                <a:cs typeface="Arial"/>
              </a:rPr>
              <a:t>algorithmique</a:t>
            </a:r>
            <a:endParaRPr lang="en-US" b="1" err="1">
              <a:latin typeface="Rockwell"/>
            </a:endParaRPr>
          </a:p>
          <a:p>
            <a:r>
              <a:rPr lang="en-US" b="1">
                <a:latin typeface="Rockwell"/>
                <a:ea typeface="+mn-lt"/>
                <a:cs typeface="Arial"/>
              </a:rPr>
              <a:t>III. </a:t>
            </a:r>
            <a:r>
              <a:rPr lang="en-US" b="1" err="1">
                <a:latin typeface="Rockwell"/>
                <a:ea typeface="+mn-lt"/>
                <a:cs typeface="Arial"/>
              </a:rPr>
              <a:t>Décomposition</a:t>
            </a:r>
            <a:r>
              <a:rPr lang="en-US" b="1">
                <a:latin typeface="Rockwell"/>
                <a:ea typeface="+mn-lt"/>
                <a:cs typeface="Arial"/>
              </a:rPr>
              <a:t> </a:t>
            </a:r>
            <a:r>
              <a:rPr lang="en-US" b="1" err="1">
                <a:latin typeface="Rockwell"/>
                <a:ea typeface="+mn-lt"/>
                <a:cs typeface="Arial"/>
              </a:rPr>
              <a:t>en</a:t>
            </a:r>
            <a:r>
              <a:rPr lang="en-US" b="1">
                <a:latin typeface="Rockwell"/>
                <a:ea typeface="+mn-lt"/>
                <a:cs typeface="Arial"/>
              </a:rPr>
              <a:t> </a:t>
            </a:r>
            <a:r>
              <a:rPr lang="en-US" b="1" err="1">
                <a:latin typeface="Rockwell"/>
                <a:ea typeface="+mn-lt"/>
                <a:cs typeface="Arial"/>
              </a:rPr>
              <a:t>valeurs</a:t>
            </a:r>
            <a:r>
              <a:rPr lang="en-US" b="1">
                <a:latin typeface="Rockwell"/>
                <a:ea typeface="+mn-lt"/>
                <a:cs typeface="Arial"/>
              </a:rPr>
              <a:t> </a:t>
            </a:r>
            <a:r>
              <a:rPr lang="en-US" b="1" err="1">
                <a:latin typeface="Rockwell"/>
                <a:ea typeface="+mn-lt"/>
                <a:cs typeface="Arial"/>
              </a:rPr>
              <a:t>propres</a:t>
            </a:r>
            <a:r>
              <a:rPr lang="en-US" b="1">
                <a:latin typeface="Rockwell"/>
                <a:ea typeface="+mn-lt"/>
                <a:cs typeface="Arial"/>
              </a:rPr>
              <a:t> et </a:t>
            </a:r>
            <a:r>
              <a:rPr lang="en-US" b="1" err="1">
                <a:latin typeface="Rockwell"/>
                <a:ea typeface="+mn-lt"/>
                <a:cs typeface="Arial"/>
              </a:rPr>
              <a:t>réduction</a:t>
            </a:r>
            <a:r>
              <a:rPr lang="en-US" b="1">
                <a:latin typeface="Rockwell"/>
                <a:ea typeface="+mn-lt"/>
                <a:cs typeface="Arial"/>
              </a:rPr>
              <a:t> de dimension</a:t>
            </a:r>
            <a:endParaRPr lang="en-US">
              <a:latin typeface="Rockwell"/>
            </a:endParaRPr>
          </a:p>
          <a:p>
            <a:r>
              <a:rPr lang="en-US" b="1">
                <a:latin typeface="Rockwell"/>
                <a:ea typeface="+mn-lt"/>
                <a:cs typeface="Arial"/>
              </a:rPr>
              <a:t>IV. Projection </a:t>
            </a:r>
            <a:r>
              <a:rPr lang="en-US" b="1" err="1">
                <a:latin typeface="Rockwell"/>
                <a:ea typeface="+mn-lt"/>
                <a:cs typeface="Arial"/>
              </a:rPr>
              <a:t>orthogonale</a:t>
            </a:r>
            <a:r>
              <a:rPr lang="en-US" b="1">
                <a:latin typeface="Rockwell"/>
                <a:ea typeface="+mn-lt"/>
                <a:cs typeface="Arial"/>
              </a:rPr>
              <a:t> et reconstruction des visages</a:t>
            </a:r>
          </a:p>
          <a:p>
            <a:r>
              <a:rPr lang="en-US" b="1">
                <a:latin typeface="Rockwell"/>
                <a:ea typeface="+mn-lt"/>
                <a:cs typeface="Arial"/>
              </a:rPr>
              <a:t>V. </a:t>
            </a:r>
            <a:r>
              <a:rPr lang="en-US" b="1" err="1">
                <a:latin typeface="Rockwell"/>
                <a:ea typeface="+mn-lt"/>
                <a:cs typeface="Arial"/>
              </a:rPr>
              <a:t>Critères</a:t>
            </a:r>
            <a:r>
              <a:rPr lang="en-US" b="1">
                <a:latin typeface="Rockwell"/>
                <a:ea typeface="+mn-lt"/>
                <a:cs typeface="Arial"/>
              </a:rPr>
              <a:t> de </a:t>
            </a:r>
            <a:r>
              <a:rPr lang="en-US" b="1" err="1">
                <a:latin typeface="Rockwell"/>
                <a:ea typeface="+mn-lt"/>
                <a:cs typeface="Arial"/>
              </a:rPr>
              <a:t>Similarité</a:t>
            </a:r>
            <a:r>
              <a:rPr lang="en-US" b="1">
                <a:latin typeface="Rockwell"/>
                <a:ea typeface="+mn-lt"/>
                <a:cs typeface="Arial"/>
              </a:rPr>
              <a:t> et Classification</a:t>
            </a:r>
          </a:p>
          <a:p>
            <a:r>
              <a:rPr lang="en-US" b="1">
                <a:latin typeface="Rockwell"/>
                <a:cs typeface="Arial"/>
              </a:rPr>
              <a:t>VI. Nouvelles </a:t>
            </a:r>
            <a:r>
              <a:rPr lang="en-US" b="1" err="1">
                <a:latin typeface="Rockwell"/>
                <a:cs typeface="Arial"/>
              </a:rPr>
              <a:t>approches</a:t>
            </a:r>
            <a:r>
              <a:rPr lang="en-US" b="1">
                <a:latin typeface="Rockwell"/>
                <a:cs typeface="Arial"/>
              </a:rPr>
              <a:t> pour la reconnaissance </a:t>
            </a:r>
            <a:r>
              <a:rPr lang="en-US" b="1" err="1">
                <a:latin typeface="Rockwell"/>
                <a:cs typeface="Arial"/>
              </a:rPr>
              <a:t>faciale</a:t>
            </a:r>
          </a:p>
          <a:p>
            <a:endParaRPr lang="en-US" b="1">
              <a:latin typeface="Franklin Gothic Medium" panose="020B0603020102020204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90008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C6C862-7505-2C70-C3EC-773A29615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97" y="317814"/>
            <a:ext cx="11546527" cy="1700784"/>
          </a:xfrm>
        </p:spPr>
        <p:txBody>
          <a:bodyPr/>
          <a:lstStyle/>
          <a:p>
            <a:r>
              <a:rPr lang="en-US" sz="4000" b="1">
                <a:latin typeface="Rockwell"/>
              </a:rPr>
              <a:t>I - </a:t>
            </a:r>
            <a:r>
              <a:rPr lang="en-US" sz="4000" b="1" u="sng" err="1">
                <a:latin typeface="Rockwell"/>
              </a:rPr>
              <a:t>Représentation</a:t>
            </a:r>
            <a:r>
              <a:rPr lang="en-US" sz="4000" b="1" u="sng">
                <a:latin typeface="Rockwell"/>
              </a:rPr>
              <a:t> </a:t>
            </a:r>
            <a:r>
              <a:rPr lang="en-US" sz="4000" b="1" u="sng" err="1">
                <a:latin typeface="Rockwell"/>
              </a:rPr>
              <a:t>mathématique</a:t>
            </a:r>
            <a:r>
              <a:rPr lang="en-US" sz="4000" b="1" u="sng">
                <a:latin typeface="Rockwell"/>
              </a:rPr>
              <a:t> des images</a:t>
            </a:r>
            <a:endParaRPr lang="fr-FR" sz="4000" u="sng">
              <a:latin typeface="Rockwell"/>
            </a:endParaRPr>
          </a:p>
        </p:txBody>
      </p:sp>
      <p:pic>
        <p:nvPicPr>
          <p:cNvPr id="4" name="Espace réservé du contenu 3" descr="Image générée">
            <a:extLst>
              <a:ext uri="{FF2B5EF4-FFF2-40B4-BE49-F238E27FC236}">
                <a16:creationId xmlns:a16="http://schemas.microsoft.com/office/drawing/2014/main" id="{EE3CC8AE-491D-A37F-5915-380E1FACD8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226" y="2659249"/>
            <a:ext cx="2863416" cy="28634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5F931984-B793-EA88-CD98-7D5E2C5A6781}"/>
              </a:ext>
            </a:extLst>
          </p:cNvPr>
          <p:cNvSpPr txBox="1"/>
          <p:nvPr/>
        </p:nvSpPr>
        <p:spPr>
          <a:xfrm>
            <a:off x="3434586" y="2266359"/>
            <a:ext cx="8443023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u="sng">
                <a:latin typeface="Rockwell"/>
                <a:ea typeface="+mn-lt"/>
                <a:cs typeface="+mn-lt"/>
              </a:rPr>
              <a:t>Conversion des images en vecteur</a:t>
            </a:r>
            <a:r>
              <a:rPr lang="fr-FR">
                <a:latin typeface="Rockwell"/>
                <a:ea typeface="+mn-lt"/>
                <a:cs typeface="+mn-lt"/>
              </a:rPr>
              <a:t> :</a:t>
            </a:r>
            <a:endParaRPr lang="en-US">
              <a:latin typeface="Rockwell"/>
            </a:endParaRPr>
          </a:p>
          <a:p>
            <a:pPr marL="285750" indent="-285750">
              <a:buFont typeface="Arial"/>
              <a:buChar char="•"/>
            </a:pPr>
            <a:r>
              <a:rPr lang="fr-FR">
                <a:latin typeface="Rockwell"/>
                <a:ea typeface="+mn-lt"/>
                <a:cs typeface="+mn-lt"/>
              </a:rPr>
              <a:t>Pour simplifier le traitement, </a:t>
            </a:r>
            <a:r>
              <a:rPr lang="fr-FR" b="1">
                <a:latin typeface="Rockwell"/>
                <a:ea typeface="+mn-lt"/>
                <a:cs typeface="+mn-lt"/>
              </a:rPr>
              <a:t>les images sont converties en niveaux de gris</a:t>
            </a:r>
            <a:r>
              <a:rPr lang="fr-FR">
                <a:latin typeface="Rockwell"/>
                <a:ea typeface="+mn-lt"/>
                <a:cs typeface="+mn-lt"/>
              </a:rPr>
              <a:t>.</a:t>
            </a:r>
            <a:endParaRPr lang="en-US">
              <a:latin typeface="Rockwell"/>
              <a:ea typeface="+mn-lt"/>
              <a:cs typeface="+mn-lt"/>
            </a:endParaRPr>
          </a:p>
          <a:p>
            <a:r>
              <a:rPr lang="fr-FR">
                <a:latin typeface="Rockwell"/>
                <a:ea typeface="+mn-lt"/>
                <a:cs typeface="+mn-lt"/>
              </a:rPr>
              <a:t> Cela réduit chaque pixel à une seule valeur d’intensité lumineuse.</a:t>
            </a:r>
            <a:endParaRPr lang="en-US">
              <a:latin typeface="Rockwell"/>
            </a:endParaRPr>
          </a:p>
          <a:p>
            <a:pPr marL="285750" indent="-285750">
              <a:buFont typeface="Arial"/>
              <a:buChar char="•"/>
            </a:pPr>
            <a:endParaRPr lang="fr-FR">
              <a:latin typeface="Rockwell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fr-FR">
                <a:latin typeface="Rockwell"/>
                <a:ea typeface="+mn-lt"/>
                <a:cs typeface="+mn-lt"/>
              </a:rPr>
              <a:t>Une image est alors </a:t>
            </a:r>
            <a:r>
              <a:rPr lang="fr-FR"/>
              <a:t>représentée</a:t>
            </a:r>
            <a:r>
              <a:rPr lang="fr-FR">
                <a:latin typeface="Rockwell"/>
                <a:ea typeface="+mn-lt"/>
                <a:cs typeface="+mn-lt"/>
              </a:rPr>
              <a:t> par une </a:t>
            </a:r>
            <a:r>
              <a:rPr lang="fr-FR" b="1">
                <a:latin typeface="Rockwell"/>
                <a:ea typeface="+mn-lt"/>
                <a:cs typeface="+mn-lt"/>
              </a:rPr>
              <a:t>matrice de taille H × W</a:t>
            </a:r>
            <a:r>
              <a:rPr lang="fr-FR">
                <a:latin typeface="Rockwell"/>
                <a:ea typeface="+mn-lt"/>
                <a:cs typeface="+mn-lt"/>
              </a:rPr>
              <a:t>,</a:t>
            </a:r>
            <a:br>
              <a:rPr lang="fr-FR">
                <a:latin typeface="Rockwell"/>
                <a:ea typeface="+mn-lt"/>
                <a:cs typeface="+mn-lt"/>
              </a:rPr>
            </a:br>
            <a:r>
              <a:rPr lang="fr-FR">
                <a:latin typeface="Rockwell"/>
                <a:ea typeface="+mn-lt"/>
                <a:cs typeface="+mn-lt"/>
              </a:rPr>
              <a:t> où </a:t>
            </a:r>
            <a:r>
              <a:rPr lang="fr-FR" b="1">
                <a:latin typeface="Rockwell"/>
                <a:ea typeface="+mn-lt"/>
                <a:cs typeface="+mn-lt"/>
              </a:rPr>
              <a:t>H</a:t>
            </a:r>
            <a:r>
              <a:rPr lang="fr-FR">
                <a:latin typeface="Rockwell"/>
                <a:ea typeface="+mn-lt"/>
                <a:cs typeface="+mn-lt"/>
              </a:rPr>
              <a:t> est la hauteur (en pixels) et </a:t>
            </a:r>
            <a:r>
              <a:rPr lang="fr-FR" b="1">
                <a:latin typeface="Rockwell"/>
                <a:ea typeface="+mn-lt"/>
                <a:cs typeface="+mn-lt"/>
              </a:rPr>
              <a:t>W</a:t>
            </a:r>
            <a:r>
              <a:rPr lang="fr-FR">
                <a:latin typeface="Rockwell"/>
                <a:ea typeface="+mn-lt"/>
                <a:cs typeface="+mn-lt"/>
              </a:rPr>
              <a:t> la largeur.</a:t>
            </a:r>
          </a:p>
          <a:p>
            <a:pPr marL="285750" indent="-285750">
              <a:buFont typeface="Arial"/>
              <a:buChar char="•"/>
            </a:pPr>
            <a:endParaRPr lang="fr-FR">
              <a:latin typeface="Rockwell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fr-FR">
                <a:latin typeface="Rockwell"/>
                <a:ea typeface="+mn-lt"/>
                <a:cs typeface="+mn-lt"/>
              </a:rPr>
              <a:t>I(</a:t>
            </a:r>
            <a:r>
              <a:rPr lang="fr-FR" err="1">
                <a:latin typeface="Rockwell"/>
                <a:ea typeface="+mn-lt"/>
                <a:cs typeface="+mn-lt"/>
              </a:rPr>
              <a:t>i,j</a:t>
            </a:r>
            <a:r>
              <a:rPr lang="fr-FR">
                <a:latin typeface="Rockwell"/>
                <a:ea typeface="+mn-lt"/>
                <a:cs typeface="+mn-lt"/>
              </a:rPr>
              <a:t>) = 0.299 * R(</a:t>
            </a:r>
            <a:r>
              <a:rPr lang="fr-FR" err="1">
                <a:latin typeface="Rockwell"/>
                <a:ea typeface="+mn-lt"/>
                <a:cs typeface="+mn-lt"/>
              </a:rPr>
              <a:t>i,j</a:t>
            </a:r>
            <a:r>
              <a:rPr lang="fr-FR">
                <a:latin typeface="Rockwell"/>
                <a:ea typeface="+mn-lt"/>
                <a:cs typeface="+mn-lt"/>
              </a:rPr>
              <a:t>) + 0.587 * V(</a:t>
            </a:r>
            <a:r>
              <a:rPr lang="fr-FR" err="1">
                <a:latin typeface="Rockwell"/>
                <a:ea typeface="+mn-lt"/>
                <a:cs typeface="+mn-lt"/>
              </a:rPr>
              <a:t>i,j</a:t>
            </a:r>
            <a:r>
              <a:rPr lang="fr-FR">
                <a:latin typeface="Rockwell"/>
                <a:ea typeface="+mn-lt"/>
                <a:cs typeface="+mn-lt"/>
              </a:rPr>
              <a:t>) + 0.114 * B(</a:t>
            </a:r>
            <a:r>
              <a:rPr lang="fr-FR" err="1">
                <a:latin typeface="Rockwell"/>
                <a:ea typeface="+mn-lt"/>
                <a:cs typeface="+mn-lt"/>
              </a:rPr>
              <a:t>i,j</a:t>
            </a:r>
            <a:r>
              <a:rPr lang="fr-FR">
                <a:latin typeface="Rockwell"/>
                <a:ea typeface="+mn-lt"/>
                <a:cs typeface="+mn-lt"/>
              </a:rPr>
              <a:t>)</a:t>
            </a:r>
          </a:p>
          <a:p>
            <a:pPr marL="285750" indent="-285750">
              <a:buFont typeface="Arial"/>
              <a:buChar char="•"/>
            </a:pPr>
            <a:endParaRPr lang="fr-FR">
              <a:latin typeface="Rockwell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fr-FR" b="1">
                <a:latin typeface="Rockwell"/>
                <a:ea typeface="+mn-lt"/>
                <a:cs typeface="+mn-lt"/>
              </a:rPr>
              <a:t>Chaque case de la matrice</a:t>
            </a:r>
            <a:r>
              <a:rPr lang="fr-FR">
                <a:latin typeface="Rockwell"/>
                <a:ea typeface="+mn-lt"/>
                <a:cs typeface="+mn-lt"/>
              </a:rPr>
              <a:t> contient une valeur entre </a:t>
            </a:r>
            <a:r>
              <a:rPr lang="fr-FR" b="1">
                <a:latin typeface="Rockwell"/>
                <a:ea typeface="+mn-lt"/>
                <a:cs typeface="+mn-lt"/>
              </a:rPr>
              <a:t>0 (noir)</a:t>
            </a:r>
            <a:r>
              <a:rPr lang="fr-FR">
                <a:latin typeface="Rockwell"/>
                <a:ea typeface="+mn-lt"/>
                <a:cs typeface="+mn-lt"/>
              </a:rPr>
              <a:t> et </a:t>
            </a:r>
            <a:r>
              <a:rPr lang="fr-FR" b="1">
                <a:latin typeface="Rockwell"/>
                <a:ea typeface="+mn-lt"/>
                <a:cs typeface="+mn-lt"/>
              </a:rPr>
              <a:t>255 (blanc)</a:t>
            </a:r>
            <a:br>
              <a:rPr lang="fr-FR" b="1">
                <a:latin typeface="Rockwell"/>
                <a:ea typeface="+mn-lt"/>
                <a:cs typeface="+mn-lt"/>
              </a:rPr>
            </a:br>
            <a:r>
              <a:rPr lang="fr-FR" b="1">
                <a:latin typeface="Rockwell"/>
                <a:ea typeface="+mn-lt"/>
                <a:cs typeface="+mn-lt"/>
              </a:rPr>
              <a:t> représentant l’intensité du pixel.</a:t>
            </a:r>
            <a:endParaRPr lang="fr-FR">
              <a:latin typeface="Rockwell"/>
            </a:endParaRPr>
          </a:p>
          <a:p>
            <a:pPr marL="285750" indent="-285750">
              <a:buFont typeface="Arial"/>
              <a:buChar char="•"/>
            </a:pPr>
            <a:endParaRPr lang="fr-FR" b="1">
              <a:latin typeface="Rockwell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fr-FR">
                <a:latin typeface="Rockwell"/>
                <a:ea typeface="+mn-lt"/>
                <a:cs typeface="+mn-lt"/>
              </a:rPr>
              <a:t>Pour appliquer des outils algébriques, on </a:t>
            </a:r>
            <a:r>
              <a:rPr lang="fr-FR" b="1">
                <a:latin typeface="Rockwell"/>
                <a:ea typeface="+mn-lt"/>
                <a:cs typeface="+mn-lt"/>
              </a:rPr>
              <a:t>vectorise</a:t>
            </a:r>
            <a:r>
              <a:rPr lang="fr-FR">
                <a:latin typeface="Rockwell"/>
                <a:ea typeface="+mn-lt"/>
                <a:cs typeface="+mn-lt"/>
              </a:rPr>
              <a:t> cette matrice :</a:t>
            </a:r>
            <a:br>
              <a:rPr lang="fr-FR">
                <a:latin typeface="Rockwell"/>
                <a:ea typeface="+mn-lt"/>
                <a:cs typeface="+mn-lt"/>
              </a:rPr>
            </a:br>
            <a:r>
              <a:rPr lang="fr-FR">
                <a:latin typeface="Rockwell"/>
                <a:ea typeface="+mn-lt"/>
                <a:cs typeface="+mn-lt"/>
              </a:rPr>
              <a:t> on la transforme en un </a:t>
            </a:r>
            <a:r>
              <a:rPr lang="fr-FR" b="1">
                <a:latin typeface="Rockwell"/>
                <a:ea typeface="+mn-lt"/>
                <a:cs typeface="+mn-lt"/>
              </a:rPr>
              <a:t>vecteur colonne x de taille H × W</a:t>
            </a:r>
            <a:r>
              <a:rPr lang="fr-FR">
                <a:latin typeface="Rockwell"/>
                <a:ea typeface="+mn-lt"/>
                <a:cs typeface="+mn-lt"/>
              </a:rPr>
              <a:t>.</a:t>
            </a:r>
          </a:p>
          <a:p>
            <a:endParaRPr lang="fr-FR">
              <a:latin typeface="Rockwell"/>
            </a:endParaRPr>
          </a:p>
          <a:p>
            <a:endParaRPr lang="fr-FR">
              <a:latin typeface="Rockwell"/>
            </a:endParaRPr>
          </a:p>
        </p:txBody>
      </p:sp>
    </p:spTree>
    <p:extLst>
      <p:ext uri="{BB962C8B-B14F-4D97-AF65-F5344CB8AC3E}">
        <p14:creationId xmlns:p14="http://schemas.microsoft.com/office/powerpoint/2010/main" val="345979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06D09BC-38DF-58A5-95CF-50CDB7F596D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259051" y="426749"/>
            <a:ext cx="8770284" cy="460057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 sz="1800" b="1" u="sng">
                <a:latin typeface="Rockwell"/>
                <a:cs typeface="Arial"/>
              </a:rPr>
              <a:t>Construction de la matrice des images et centrage</a:t>
            </a:r>
            <a:endParaRPr lang="en-US" sz="1800" u="sng">
              <a:latin typeface="Rockwell"/>
            </a:endParaRPr>
          </a:p>
          <a:p>
            <a:pPr marL="285750" indent="-285750">
              <a:buFont typeface="Arial"/>
              <a:buChar char="•"/>
            </a:pPr>
            <a:r>
              <a:rPr lang="fr-FR" sz="1800">
                <a:latin typeface="Rockwell"/>
                <a:ea typeface="+mn-lt"/>
                <a:cs typeface="+mn-lt"/>
              </a:rPr>
              <a:t>On dispose de </a:t>
            </a:r>
            <a:r>
              <a:rPr lang="fr-FR" sz="1800" b="1">
                <a:latin typeface="Rockwell"/>
                <a:ea typeface="+mn-lt"/>
                <a:cs typeface="+mn-lt"/>
              </a:rPr>
              <a:t>E visages</a:t>
            </a:r>
            <a:r>
              <a:rPr lang="fr-FR" sz="1800">
                <a:latin typeface="Rockwell"/>
                <a:ea typeface="+mn-lt"/>
                <a:cs typeface="+mn-lt"/>
              </a:rPr>
              <a:t>, tous convertis en vecteurs de taille </a:t>
            </a:r>
            <a:r>
              <a:rPr lang="fr-FR" sz="1800" b="1">
                <a:latin typeface="Rockwell"/>
                <a:ea typeface="+mn-lt"/>
                <a:cs typeface="+mn-lt"/>
              </a:rPr>
              <a:t>H × W</a:t>
            </a:r>
            <a:r>
              <a:rPr lang="fr-FR" sz="1800">
                <a:latin typeface="Rockwell"/>
                <a:ea typeface="+mn-lt"/>
                <a:cs typeface="+mn-lt"/>
              </a:rPr>
              <a:t> (après vectorisation).</a:t>
            </a:r>
            <a:endParaRPr lang="fr-FR" sz="1800">
              <a:latin typeface="Rockwell"/>
            </a:endParaRPr>
          </a:p>
          <a:p>
            <a:pPr marL="285750" indent="-285750">
              <a:buFont typeface="Arial"/>
              <a:buChar char="•"/>
            </a:pPr>
            <a:r>
              <a:rPr lang="fr-FR" sz="1800">
                <a:latin typeface="Rockwell"/>
                <a:ea typeface="+mn-lt"/>
                <a:cs typeface="+mn-lt"/>
              </a:rPr>
              <a:t>On forme alors une </a:t>
            </a:r>
            <a:r>
              <a:rPr lang="fr-FR" sz="1800" b="1">
                <a:latin typeface="Rockwell"/>
                <a:ea typeface="+mn-lt"/>
                <a:cs typeface="+mn-lt"/>
              </a:rPr>
              <a:t>matrice A</a:t>
            </a:r>
            <a:r>
              <a:rPr lang="fr-FR" sz="1800">
                <a:latin typeface="Rockwell"/>
                <a:ea typeface="+mn-lt"/>
                <a:cs typeface="+mn-lt"/>
              </a:rPr>
              <a:t> de taille </a:t>
            </a:r>
            <a:r>
              <a:rPr lang="fr-FR" sz="1800" b="1">
                <a:latin typeface="Rockwell"/>
                <a:ea typeface="+mn-lt"/>
                <a:cs typeface="+mn-lt"/>
              </a:rPr>
              <a:t>(</a:t>
            </a:r>
            <a:r>
              <a:rPr lang="fr-FR" sz="1800" b="1" err="1">
                <a:latin typeface="Rockwell"/>
                <a:ea typeface="+mn-lt"/>
                <a:cs typeface="+mn-lt"/>
              </a:rPr>
              <a:t>HxW</a:t>
            </a:r>
            <a:r>
              <a:rPr lang="fr-FR" sz="1800" b="1">
                <a:latin typeface="Rockwell"/>
                <a:ea typeface="+mn-lt"/>
                <a:cs typeface="+mn-lt"/>
              </a:rPr>
              <a:t>) × E</a:t>
            </a:r>
            <a:r>
              <a:rPr lang="fr-FR" sz="1800">
                <a:latin typeface="Rockwell"/>
                <a:ea typeface="+mn-lt"/>
                <a:cs typeface="+mn-lt"/>
              </a:rPr>
              <a:t> :</a:t>
            </a:r>
            <a:br>
              <a:rPr lang="fr-FR" sz="1800">
                <a:latin typeface="Rockwell"/>
                <a:ea typeface="+mn-lt"/>
                <a:cs typeface="+mn-lt"/>
              </a:rPr>
            </a:br>
            <a:r>
              <a:rPr lang="fr-FR" sz="1800">
                <a:latin typeface="Rockwell"/>
                <a:ea typeface="+mn-lt"/>
                <a:cs typeface="+mn-lt"/>
              </a:rPr>
              <a:t> - </a:t>
            </a:r>
            <a:r>
              <a:rPr lang="fr-FR" sz="1800" b="1">
                <a:latin typeface="Rockwell"/>
                <a:ea typeface="+mn-lt"/>
                <a:cs typeface="+mn-lt"/>
              </a:rPr>
              <a:t>Chaque colonne</a:t>
            </a:r>
            <a:r>
              <a:rPr lang="fr-FR" sz="1800">
                <a:latin typeface="Rockwell"/>
                <a:ea typeface="+mn-lt"/>
                <a:cs typeface="+mn-lt"/>
              </a:rPr>
              <a:t> correspond à un </a:t>
            </a:r>
            <a:r>
              <a:rPr lang="fr-FR" sz="1800" b="1">
                <a:latin typeface="Rockwell"/>
                <a:ea typeface="+mn-lt"/>
                <a:cs typeface="+mn-lt"/>
              </a:rPr>
              <a:t>visage vectorisé</a:t>
            </a:r>
            <a:r>
              <a:rPr lang="fr-FR" sz="1800">
                <a:latin typeface="Rockwell"/>
                <a:ea typeface="+mn-lt"/>
                <a:cs typeface="+mn-lt"/>
              </a:rPr>
              <a:t>.</a:t>
            </a:r>
            <a:br>
              <a:rPr lang="fr-FR" sz="1800">
                <a:latin typeface="Rockwell"/>
                <a:ea typeface="+mn-lt"/>
                <a:cs typeface="+mn-lt"/>
              </a:rPr>
            </a:br>
            <a:r>
              <a:rPr lang="fr-FR" sz="1800">
                <a:latin typeface="Rockwell"/>
                <a:ea typeface="+mn-lt"/>
                <a:cs typeface="+mn-lt"/>
              </a:rPr>
              <a:t> - La matrice A représente l’ensemble de la base d’images.</a:t>
            </a:r>
            <a:endParaRPr lang="en-US" sz="1800">
              <a:latin typeface="Rockwell"/>
            </a:endParaRPr>
          </a:p>
          <a:p>
            <a:pPr marL="285750" indent="-285750">
              <a:buFont typeface="Arial"/>
              <a:buChar char="•"/>
            </a:pPr>
            <a:r>
              <a:rPr lang="fr-FR" sz="1800">
                <a:latin typeface="Rockwell"/>
                <a:ea typeface="+mn-lt"/>
                <a:cs typeface="+mn-lt"/>
              </a:rPr>
              <a:t>Pour mieux analyser les </a:t>
            </a:r>
            <a:r>
              <a:rPr lang="fr-FR" sz="1800" b="1">
                <a:latin typeface="Rockwell"/>
                <a:ea typeface="+mn-lt"/>
                <a:cs typeface="+mn-lt"/>
              </a:rPr>
              <a:t>caractéristiques distinctives</a:t>
            </a:r>
            <a:r>
              <a:rPr lang="fr-FR" sz="1800">
                <a:latin typeface="Rockwell"/>
                <a:ea typeface="+mn-lt"/>
                <a:cs typeface="+mn-lt"/>
              </a:rPr>
              <a:t> des visages,</a:t>
            </a:r>
            <a:br>
              <a:rPr lang="fr-FR" sz="1800">
                <a:latin typeface="Rockwell"/>
                <a:ea typeface="+mn-lt"/>
                <a:cs typeface="+mn-lt"/>
              </a:rPr>
            </a:br>
            <a:r>
              <a:rPr lang="fr-FR" sz="1800">
                <a:latin typeface="Rockwell"/>
                <a:ea typeface="+mn-lt"/>
                <a:cs typeface="+mn-lt"/>
              </a:rPr>
              <a:t> on calcule le </a:t>
            </a:r>
            <a:r>
              <a:rPr lang="fr-FR" sz="1800" b="1">
                <a:latin typeface="Rockwell"/>
                <a:ea typeface="+mn-lt"/>
                <a:cs typeface="+mn-lt"/>
              </a:rPr>
              <a:t>visage moyen</a:t>
            </a:r>
            <a:r>
              <a:rPr lang="fr-FR" sz="1800">
                <a:latin typeface="Rockwell"/>
                <a:ea typeface="+mn-lt"/>
                <a:cs typeface="+mn-lt"/>
              </a:rPr>
              <a:t> (moyenne de tous les vecteurs).</a:t>
            </a:r>
            <a:endParaRPr lang="fr-FR" sz="1800">
              <a:latin typeface="Rockwell"/>
            </a:endParaRPr>
          </a:p>
          <a:p>
            <a:pPr marL="285750" indent="-285750">
              <a:buFont typeface="Arial"/>
              <a:buChar char="•"/>
            </a:pPr>
            <a:r>
              <a:rPr lang="fr-FR" sz="1800">
                <a:latin typeface="Rockwell"/>
                <a:ea typeface="+mn-lt"/>
                <a:cs typeface="+mn-lt"/>
              </a:rPr>
              <a:t>Calcul du visage moyen μ:</a:t>
            </a:r>
          </a:p>
          <a:p>
            <a:r>
              <a:rPr lang="fr-FR" sz="1800">
                <a:latin typeface="Rockwell"/>
                <a:ea typeface="+mn-lt"/>
                <a:cs typeface="+mn-lt"/>
              </a:rPr>
              <a:t>C'est la moyenne de toutes les colonnes de la matrice A</a:t>
            </a:r>
          </a:p>
          <a:p>
            <a:pPr marL="285750" indent="-285750">
              <a:buFont typeface="Arial"/>
              <a:buChar char="•"/>
            </a:pPr>
            <a:r>
              <a:rPr lang="fr-FR" sz="1800">
                <a:latin typeface="Rockwell"/>
                <a:ea typeface="+mn-lt"/>
                <a:cs typeface="+mn-lt"/>
              </a:rPr>
              <a:t>On </a:t>
            </a:r>
            <a:r>
              <a:rPr lang="fr-FR" sz="1800" b="1">
                <a:latin typeface="Rockwell"/>
                <a:ea typeface="+mn-lt"/>
                <a:cs typeface="+mn-lt"/>
              </a:rPr>
              <a:t>centre les données</a:t>
            </a:r>
            <a:r>
              <a:rPr lang="fr-FR" sz="1800">
                <a:latin typeface="Rockwell"/>
                <a:ea typeface="+mn-lt"/>
                <a:cs typeface="+mn-lt"/>
              </a:rPr>
              <a:t> :</a:t>
            </a:r>
            <a:br>
              <a:rPr lang="fr-FR" sz="1800">
                <a:latin typeface="Rockwell"/>
                <a:ea typeface="+mn-lt"/>
                <a:cs typeface="+mn-lt"/>
              </a:rPr>
            </a:br>
            <a:r>
              <a:rPr lang="fr-FR" sz="1800">
                <a:latin typeface="Rockwell"/>
                <a:ea typeface="+mn-lt"/>
                <a:cs typeface="+mn-lt"/>
              </a:rPr>
              <a:t> - À chaque vecteur visage, on </a:t>
            </a:r>
            <a:r>
              <a:rPr lang="fr-FR" sz="1800" b="1">
                <a:latin typeface="Rockwell"/>
                <a:ea typeface="+mn-lt"/>
                <a:cs typeface="+mn-lt"/>
              </a:rPr>
              <a:t>soustrait le visage moyen</a:t>
            </a:r>
            <a:r>
              <a:rPr lang="fr-FR" sz="1800">
                <a:latin typeface="Rockwell"/>
                <a:ea typeface="+mn-lt"/>
                <a:cs typeface="+mn-lt"/>
              </a:rPr>
              <a:t>.</a:t>
            </a:r>
            <a:br>
              <a:rPr lang="fr-FR" sz="1800">
                <a:latin typeface="Rockwell"/>
                <a:ea typeface="+mn-lt"/>
                <a:cs typeface="+mn-lt"/>
              </a:rPr>
            </a:br>
            <a:r>
              <a:rPr lang="fr-FR" sz="1800">
                <a:latin typeface="Rockwell"/>
                <a:ea typeface="+mn-lt"/>
                <a:cs typeface="+mn-lt"/>
              </a:rPr>
              <a:t> - Cela permet de se concentrer sur les </a:t>
            </a:r>
            <a:r>
              <a:rPr lang="fr-FR" sz="1800" b="1">
                <a:latin typeface="Rockwell"/>
                <a:ea typeface="+mn-lt"/>
                <a:cs typeface="+mn-lt"/>
              </a:rPr>
              <a:t>variations</a:t>
            </a:r>
            <a:r>
              <a:rPr lang="fr-FR" sz="1800">
                <a:latin typeface="Rockwell"/>
                <a:ea typeface="+mn-lt"/>
                <a:cs typeface="+mn-lt"/>
              </a:rPr>
              <a:t> entre les visages</a:t>
            </a:r>
            <a:br>
              <a:rPr lang="fr-FR" sz="1800">
                <a:latin typeface="Rockwell"/>
                <a:ea typeface="+mn-lt"/>
                <a:cs typeface="+mn-lt"/>
              </a:rPr>
            </a:br>
            <a:r>
              <a:rPr lang="fr-FR" sz="1800">
                <a:latin typeface="Rockwell"/>
                <a:ea typeface="+mn-lt"/>
                <a:cs typeface="+mn-lt"/>
              </a:rPr>
              <a:t> (et pas sur les traits communs à tous).</a:t>
            </a:r>
            <a:endParaRPr lang="fr-FR" sz="1800">
              <a:latin typeface="Rockwell"/>
            </a:endParaRPr>
          </a:p>
          <a:p>
            <a:r>
              <a:rPr lang="fr-FR" sz="1800">
                <a:latin typeface="Rockwell"/>
              </a:rPr>
              <a:t>On créé alors une nouvelle matrice A', où chaque colonne devient :</a:t>
            </a:r>
          </a:p>
          <a:p>
            <a:r>
              <a:rPr lang="fr-FR" sz="1800">
                <a:latin typeface="Rockwell"/>
                <a:ea typeface="+mn-lt"/>
                <a:cs typeface="+mn-lt"/>
              </a:rPr>
              <a:t>Ai′ =Ai −μ</a:t>
            </a:r>
            <a:endParaRPr lang="fr-FR" sz="1800">
              <a:latin typeface="Rockwell"/>
            </a:endParaRPr>
          </a:p>
          <a:p>
            <a:endParaRPr lang="fr-FR">
              <a:latin typeface="Rockwell"/>
            </a:endParaRPr>
          </a:p>
          <a:p>
            <a:pPr marL="285750" indent="-285750">
              <a:buFont typeface="Arial"/>
              <a:buChar char="•"/>
            </a:pPr>
            <a:endParaRPr lang="fr-FR">
              <a:latin typeface="Rockwell"/>
            </a:endParaRPr>
          </a:p>
          <a:p>
            <a:endParaRPr lang="fr-FR">
              <a:latin typeface="Rockwell"/>
            </a:endParaRPr>
          </a:p>
          <a:p>
            <a:endParaRPr lang="fr-FR">
              <a:latin typeface="Franklin Gothic Medium" panose="020B0603020102020204"/>
            </a:endParaRPr>
          </a:p>
        </p:txBody>
      </p:sp>
      <p:pic>
        <p:nvPicPr>
          <p:cNvPr id="2" name="Image 1" descr="Une image contenant Police, diagramme, blanc, conception&#10;&#10;Le contenu généré par l’IA peut être incorrect.">
            <a:extLst>
              <a:ext uri="{FF2B5EF4-FFF2-40B4-BE49-F238E27FC236}">
                <a16:creationId xmlns:a16="http://schemas.microsoft.com/office/drawing/2014/main" id="{18FF339D-619B-4814-3D51-4F2CB1B1D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2974" y="3263878"/>
            <a:ext cx="1693755" cy="58076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3F42606A-AF16-A9A7-3CE3-4596F7691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8907" y="1192321"/>
            <a:ext cx="2600325" cy="25527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AFD966BF-8564-FF64-CDEB-048E2153654F}"/>
              </a:ext>
            </a:extLst>
          </p:cNvPr>
          <p:cNvSpPr txBox="1"/>
          <p:nvPr/>
        </p:nvSpPr>
        <p:spPr>
          <a:xfrm>
            <a:off x="8724979" y="3837738"/>
            <a:ext cx="24906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/>
              <a:t>    Image moyenne</a:t>
            </a:r>
          </a:p>
        </p:txBody>
      </p:sp>
    </p:spTree>
    <p:extLst>
      <p:ext uri="{BB962C8B-B14F-4D97-AF65-F5344CB8AC3E}">
        <p14:creationId xmlns:p14="http://schemas.microsoft.com/office/powerpoint/2010/main" val="2719822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1F9B4-E1D0-6A9A-22C1-05D0E8C94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05D8E55-4C18-C916-24A8-72097E3EB6B8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259051" y="426749"/>
            <a:ext cx="9142284" cy="5620575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fr-FR" sz="1800" b="1" u="sng">
              <a:latin typeface="Rockwell"/>
              <a:cs typeface="Arial"/>
            </a:endParaRPr>
          </a:p>
          <a:p>
            <a:r>
              <a:rPr lang="fr-FR">
                <a:latin typeface="Rockwell"/>
                <a:ea typeface="+mn-lt"/>
                <a:cs typeface="+mn-lt"/>
              </a:rPr>
              <a:t>Une fois les images vectorisées et centrées...</a:t>
            </a:r>
            <a:br>
              <a:rPr lang="fr-FR">
                <a:latin typeface="Rockwell"/>
                <a:ea typeface="+mn-lt"/>
                <a:cs typeface="+mn-lt"/>
              </a:rPr>
            </a:br>
            <a:br>
              <a:rPr lang="fr-FR">
                <a:latin typeface="Rockwell"/>
                <a:ea typeface="+mn-lt"/>
                <a:cs typeface="+mn-lt"/>
              </a:rPr>
            </a:br>
            <a:endParaRPr lang="fr-FR">
              <a:latin typeface="Rockwell"/>
              <a:ea typeface="+mn-lt"/>
              <a:cs typeface="+mn-lt"/>
            </a:endParaRPr>
          </a:p>
          <a:p>
            <a:endParaRPr lang="fr-FR">
              <a:latin typeface="Rockwell"/>
              <a:ea typeface="+mn-lt"/>
              <a:cs typeface="+mn-lt"/>
            </a:endParaRPr>
          </a:p>
          <a:p>
            <a:br>
              <a:rPr lang="fr-FR">
                <a:latin typeface="Rockwell"/>
                <a:ea typeface="+mn-lt"/>
                <a:cs typeface="+mn-lt"/>
              </a:rPr>
            </a:br>
            <a:r>
              <a:rPr lang="fr-FR" b="1">
                <a:latin typeface="Rockwell"/>
                <a:ea typeface="+mn-lt"/>
                <a:cs typeface="+mn-lt"/>
              </a:rPr>
              <a:t>Comment mesurer les variations entre visages ?</a:t>
            </a:r>
            <a:br>
              <a:rPr lang="fr-FR" b="1">
                <a:latin typeface="Rockwell"/>
              </a:rPr>
            </a:br>
            <a:br>
              <a:rPr lang="fr-FR" b="1">
                <a:latin typeface="Rockwell"/>
              </a:rPr>
            </a:br>
            <a:br>
              <a:rPr lang="fr-FR">
                <a:latin typeface="Rockwell"/>
              </a:rPr>
            </a:br>
            <a:endParaRPr lang="fr-FR">
              <a:latin typeface="Rockwell"/>
            </a:endParaRPr>
          </a:p>
          <a:p>
            <a:pPr marL="285750" indent="-285750">
              <a:buFont typeface="Arial"/>
              <a:buChar char="•"/>
            </a:pPr>
            <a:endParaRPr lang="fr-FR" sz="1800">
              <a:latin typeface="Rockwell"/>
              <a:cs typeface="Arial"/>
            </a:endParaRPr>
          </a:p>
          <a:p>
            <a:endParaRPr lang="fr-FR">
              <a:latin typeface="Rockwell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fr-FR">
              <a:latin typeface="Rockwell"/>
            </a:endParaRPr>
          </a:p>
          <a:p>
            <a:endParaRPr lang="fr-FR">
              <a:latin typeface="Rockwell"/>
            </a:endParaRPr>
          </a:p>
          <a:p>
            <a:endParaRPr lang="fr-FR">
              <a:latin typeface="Franklin Gothic Medium" panose="020B06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261840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FA1A3-7CB5-549B-9064-6558F87F5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D54456-D6DE-E454-A55E-2032C59FDB99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259051" y="426749"/>
            <a:ext cx="9142284" cy="5620575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fr-FR" sz="1800" b="1" u="sng">
              <a:latin typeface="Rockwell"/>
              <a:cs typeface="Arial"/>
            </a:endParaRPr>
          </a:p>
          <a:p>
            <a:r>
              <a:rPr lang="fr-FR">
                <a:latin typeface="Rockwell"/>
                <a:ea typeface="+mn-lt"/>
                <a:cs typeface="+mn-lt"/>
              </a:rPr>
              <a:t>Une fois les images vectorisées et centrées...</a:t>
            </a:r>
            <a:br>
              <a:rPr lang="fr-FR">
                <a:latin typeface="Rockwell"/>
                <a:ea typeface="+mn-lt"/>
                <a:cs typeface="+mn-lt"/>
              </a:rPr>
            </a:br>
            <a:br>
              <a:rPr lang="fr-FR">
                <a:latin typeface="Rockwell"/>
                <a:ea typeface="+mn-lt"/>
                <a:cs typeface="+mn-lt"/>
              </a:rPr>
            </a:br>
            <a:endParaRPr lang="fr-FR">
              <a:latin typeface="Rockwell"/>
              <a:ea typeface="+mn-lt"/>
              <a:cs typeface="+mn-lt"/>
            </a:endParaRPr>
          </a:p>
          <a:p>
            <a:endParaRPr lang="fr-FR">
              <a:latin typeface="Rockwell"/>
              <a:ea typeface="+mn-lt"/>
              <a:cs typeface="+mn-lt"/>
            </a:endParaRPr>
          </a:p>
          <a:p>
            <a:br>
              <a:rPr lang="fr-FR">
                <a:latin typeface="Rockwell"/>
                <a:ea typeface="+mn-lt"/>
                <a:cs typeface="+mn-lt"/>
              </a:rPr>
            </a:br>
            <a:r>
              <a:rPr lang="fr-FR" b="1">
                <a:latin typeface="Rockwell"/>
                <a:ea typeface="+mn-lt"/>
                <a:cs typeface="+mn-lt"/>
              </a:rPr>
              <a:t>Comment mesurer les variations entre visages ?</a:t>
            </a:r>
            <a:br>
              <a:rPr lang="fr-FR" b="1">
                <a:latin typeface="Rockwell"/>
              </a:rPr>
            </a:br>
            <a:br>
              <a:rPr lang="fr-FR" b="1">
                <a:latin typeface="Rockwell"/>
              </a:rPr>
            </a:br>
            <a:br>
              <a:rPr lang="fr-FR" b="1">
                <a:latin typeface="Rockwell"/>
              </a:rPr>
            </a:br>
            <a:r>
              <a:rPr lang="fr-FR" b="1">
                <a:latin typeface="Rockwell"/>
              </a:rPr>
              <a:t>On utilise une matrice de covariance</a:t>
            </a:r>
            <a:br>
              <a:rPr lang="fr-FR">
                <a:latin typeface="Rockwell"/>
              </a:rPr>
            </a:br>
            <a:endParaRPr lang="fr-FR">
              <a:latin typeface="Rockwell"/>
            </a:endParaRPr>
          </a:p>
          <a:p>
            <a:pPr marL="285750" indent="-285750">
              <a:buFont typeface="Arial"/>
              <a:buChar char="•"/>
            </a:pPr>
            <a:endParaRPr lang="fr-FR" sz="1800">
              <a:latin typeface="Rockwell"/>
              <a:cs typeface="Arial"/>
            </a:endParaRPr>
          </a:p>
          <a:p>
            <a:endParaRPr lang="fr-FR">
              <a:latin typeface="Rockwell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fr-FR">
              <a:latin typeface="Rockwell"/>
            </a:endParaRPr>
          </a:p>
          <a:p>
            <a:endParaRPr lang="fr-FR">
              <a:latin typeface="Rockwell"/>
            </a:endParaRPr>
          </a:p>
          <a:p>
            <a:endParaRPr lang="fr-FR">
              <a:latin typeface="Franklin Gothic Medium" panose="020B06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422570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90851-C987-3A28-B020-788AD5111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757" y="641087"/>
            <a:ext cx="11457893" cy="1700784"/>
          </a:xfrm>
        </p:spPr>
        <p:txBody>
          <a:bodyPr/>
          <a:lstStyle/>
          <a:p>
            <a:r>
              <a:rPr lang="en-US" sz="4000" b="1">
                <a:latin typeface="Rockwell"/>
                <a:cs typeface="Arial"/>
              </a:rPr>
              <a:t>II - Matrice de covariance et </a:t>
            </a:r>
            <a:r>
              <a:rPr lang="en-US" sz="4000" b="1" err="1">
                <a:latin typeface="Rockwell"/>
                <a:cs typeface="Arial"/>
              </a:rPr>
              <a:t>complexité</a:t>
            </a:r>
            <a:r>
              <a:rPr lang="en-US" sz="4000" b="1">
                <a:latin typeface="Rockwell"/>
                <a:cs typeface="Arial"/>
              </a:rPr>
              <a:t> </a:t>
            </a:r>
            <a:r>
              <a:rPr lang="en-US" sz="4000" b="1" err="1">
                <a:latin typeface="Rockwell"/>
                <a:cs typeface="Arial"/>
              </a:rPr>
              <a:t>algorithmique</a:t>
            </a:r>
            <a:endParaRPr lang="en-US" sz="4000" err="1">
              <a:latin typeface="Rockwell"/>
            </a:endParaRPr>
          </a:p>
          <a:p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D33569-BE2B-B0B2-20B5-B735566CE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756" y="2333752"/>
            <a:ext cx="10268712" cy="359359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 sz="1800" u="sng">
                <a:latin typeface="Rockwell"/>
              </a:rPr>
              <a:t>Définition de la matrice de covariance</a:t>
            </a:r>
            <a:r>
              <a:rPr lang="fr-FR" sz="1800">
                <a:latin typeface="Rockwell"/>
              </a:rPr>
              <a:t> :</a:t>
            </a:r>
          </a:p>
          <a:p>
            <a:r>
              <a:rPr lang="fr-FR" sz="1800">
                <a:latin typeface="Rockwell"/>
                <a:ea typeface="+mn-lt"/>
                <a:cs typeface="+mn-lt"/>
              </a:rPr>
              <a:t>La </a:t>
            </a:r>
            <a:r>
              <a:rPr lang="fr-FR" sz="1800" b="1">
                <a:latin typeface="Rockwell"/>
                <a:ea typeface="+mn-lt"/>
                <a:cs typeface="+mn-lt"/>
              </a:rPr>
              <a:t>matrice de covariance</a:t>
            </a:r>
            <a:r>
              <a:rPr lang="fr-FR" sz="1800">
                <a:latin typeface="Rockwell"/>
                <a:ea typeface="+mn-lt"/>
                <a:cs typeface="+mn-lt"/>
              </a:rPr>
              <a:t> mesure comment chaque variable (ici, chaque pixel) varie par rapport aux autres à travers un ensemble d’observations (ici, les visages vectorisés).</a:t>
            </a:r>
            <a:endParaRPr lang="fr-FR" sz="1800">
              <a:latin typeface="Rockwell"/>
            </a:endParaRPr>
          </a:p>
          <a:p>
            <a:r>
              <a:rPr lang="fr-FR" sz="1800" u="sng">
                <a:latin typeface="Rockwell"/>
                <a:ea typeface="+mn-lt"/>
                <a:cs typeface="+mn-lt"/>
              </a:rPr>
              <a:t>Formellement </a:t>
            </a:r>
            <a:r>
              <a:rPr lang="fr-FR" sz="1800">
                <a:latin typeface="Rockwell"/>
                <a:ea typeface="+mn-lt"/>
                <a:cs typeface="+mn-lt"/>
              </a:rPr>
              <a:t>:</a:t>
            </a:r>
          </a:p>
          <a:p>
            <a:r>
              <a:rPr lang="fr-FR" sz="1800">
                <a:latin typeface="Rockwell"/>
                <a:ea typeface="+mn-lt"/>
                <a:cs typeface="+mn-lt"/>
              </a:rPr>
              <a:t>Soit une matrice de données centrées </a:t>
            </a:r>
            <a:r>
              <a:rPr lang="fr-FR" sz="1800" err="1">
                <a:latin typeface="Rockwell"/>
                <a:ea typeface="+mn-lt"/>
                <a:cs typeface="+mn-lt"/>
              </a:rPr>
              <a:t>X∈Rn×m</a:t>
            </a:r>
            <a:r>
              <a:rPr lang="fr-FR" sz="1800">
                <a:latin typeface="Rockwell"/>
                <a:ea typeface="+mn-lt"/>
                <a:cs typeface="+mn-lt"/>
              </a:rPr>
              <a:t> où :</a:t>
            </a:r>
            <a:endParaRPr lang="fr-FR" sz="1800">
              <a:latin typeface="Rockwell"/>
            </a:endParaRPr>
          </a:p>
          <a:p>
            <a:pPr marL="285750" indent="-285750">
              <a:buFont typeface="Arial"/>
              <a:buChar char="•"/>
            </a:pPr>
            <a:r>
              <a:rPr lang="fr-FR" sz="1800">
                <a:latin typeface="Rockwell"/>
                <a:ea typeface="+mn-lt"/>
                <a:cs typeface="+mn-lt"/>
              </a:rPr>
              <a:t>n est le nombre de variables (ex. : dimensions ou pixels)</a:t>
            </a:r>
            <a:endParaRPr lang="fr-FR" sz="1800">
              <a:latin typeface="Rockwell"/>
            </a:endParaRPr>
          </a:p>
          <a:p>
            <a:pPr marL="285750" indent="-285750">
              <a:buFont typeface="Arial"/>
              <a:buChar char="•"/>
            </a:pPr>
            <a:r>
              <a:rPr lang="fr-FR" sz="1800">
                <a:latin typeface="Rockwell"/>
                <a:ea typeface="+mn-lt"/>
                <a:cs typeface="+mn-lt"/>
              </a:rPr>
              <a:t>m est le nombre d’observations (ex. : échantillons ou visages)</a:t>
            </a:r>
            <a:endParaRPr lang="fr-FR" sz="1800">
              <a:latin typeface="Rockwell"/>
            </a:endParaRPr>
          </a:p>
          <a:p>
            <a:pPr marL="285750" indent="-285750">
              <a:buFont typeface="Arial"/>
              <a:buChar char="•"/>
            </a:pPr>
            <a:r>
              <a:rPr lang="fr-FR" sz="1800">
                <a:latin typeface="Rockwell"/>
                <a:ea typeface="+mn-lt"/>
                <a:cs typeface="+mn-lt"/>
              </a:rPr>
              <a:t>Chaque colonne de X est un vecteur d’observation centré, c’est-à-dire que la moyenne de chaque ligne est nulle</a:t>
            </a:r>
            <a:endParaRPr lang="fr-FR" sz="1800">
              <a:latin typeface="Rockwell"/>
            </a:endParaRPr>
          </a:p>
          <a:p>
            <a:r>
              <a:rPr lang="fr-FR" sz="1800">
                <a:latin typeface="Rockwell"/>
                <a:ea typeface="+mn-lt"/>
                <a:cs typeface="+mn-lt"/>
              </a:rPr>
              <a:t>La </a:t>
            </a:r>
            <a:r>
              <a:rPr lang="fr-FR" sz="1800" b="1">
                <a:latin typeface="Rockwell"/>
                <a:ea typeface="+mn-lt"/>
                <a:cs typeface="+mn-lt"/>
              </a:rPr>
              <a:t>matrice de covariance</a:t>
            </a:r>
            <a:r>
              <a:rPr lang="fr-FR" sz="1800">
                <a:latin typeface="Rockwell"/>
                <a:ea typeface="+mn-lt"/>
                <a:cs typeface="+mn-lt"/>
              </a:rPr>
              <a:t> </a:t>
            </a:r>
            <a:r>
              <a:rPr lang="fr-FR" sz="1800" err="1">
                <a:latin typeface="Rockwell"/>
                <a:ea typeface="+mn-lt"/>
                <a:cs typeface="+mn-lt"/>
              </a:rPr>
              <a:t>Σ∈Rn×n</a:t>
            </a:r>
            <a:r>
              <a:rPr lang="fr-FR" sz="1800">
                <a:latin typeface="Rockwell"/>
                <a:ea typeface="+mn-lt"/>
                <a:cs typeface="+mn-lt"/>
              </a:rPr>
              <a:t> est définie par :</a:t>
            </a:r>
            <a:endParaRPr lang="fr-FR" sz="1800">
              <a:latin typeface="Rockwell"/>
            </a:endParaRPr>
          </a:p>
          <a:p>
            <a:br>
              <a:rPr lang="fr-FR" sz="1050">
                <a:ea typeface="+mn-lt"/>
                <a:cs typeface="+mn-lt"/>
              </a:rPr>
            </a:br>
            <a:endParaRPr lang="fr-FR" sz="1050">
              <a:ea typeface="+mn-lt"/>
              <a:cs typeface="+mn-lt"/>
            </a:endParaRPr>
          </a:p>
          <a:p>
            <a:endParaRPr lang="fr-FR">
              <a:ea typeface="+mn-lt"/>
              <a:cs typeface="+mn-lt"/>
            </a:endParaRPr>
          </a:p>
          <a:p>
            <a:endParaRPr lang="fr-FR">
              <a:ea typeface="+mn-lt"/>
              <a:cs typeface="+mn-lt"/>
            </a:endParaRPr>
          </a:p>
          <a:p>
            <a:endParaRPr lang="fr-FR">
              <a:ea typeface="+mn-lt"/>
              <a:cs typeface="+mn-lt"/>
            </a:endParaRPr>
          </a:p>
          <a:p>
            <a:endParaRPr lang="fr-FR">
              <a:ea typeface="+mn-lt"/>
              <a:cs typeface="+mn-lt"/>
            </a:endParaRPr>
          </a:p>
        </p:txBody>
      </p:sp>
      <p:pic>
        <p:nvPicPr>
          <p:cNvPr id="4" name="Image 3" descr="Une image contenant Police, blanc, diagramme, conception&#10;&#10;Le contenu généré par l’IA peut être incorrect.">
            <a:extLst>
              <a:ext uri="{FF2B5EF4-FFF2-40B4-BE49-F238E27FC236}">
                <a16:creationId xmlns:a16="http://schemas.microsoft.com/office/drawing/2014/main" id="{C4476BA2-56A8-D1B7-2E4B-27591355C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395" y="6040871"/>
            <a:ext cx="1578280" cy="69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264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9B734-0C59-0BE7-29DE-4B0F961EC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535D5E9-3C30-9843-00FB-B3D50A5467C5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259051" y="426749"/>
            <a:ext cx="9142284" cy="4600575"/>
          </a:xfrm>
        </p:spPr>
        <p:txBody>
          <a:bodyPr vert="horz" lIns="91440" tIns="45720" rIns="91440" bIns="45720" rtlCol="0" anchor="t">
            <a:noAutofit/>
          </a:bodyPr>
          <a:lstStyle/>
          <a:p>
            <a:br>
              <a:rPr lang="fr-FR">
                <a:latin typeface="Rockwell"/>
              </a:rPr>
            </a:br>
            <a:endParaRPr lang="fr-FR">
              <a:latin typeface="Rockwell"/>
            </a:endParaRPr>
          </a:p>
          <a:p>
            <a:endParaRPr lang="fr-FR">
              <a:latin typeface="Rockwell"/>
            </a:endParaRPr>
          </a:p>
        </p:txBody>
      </p:sp>
      <p:sp>
        <p:nvSpPr>
          <p:cNvPr id="4" name="ZoneTexte 8">
            <a:extLst>
              <a:ext uri="{FF2B5EF4-FFF2-40B4-BE49-F238E27FC236}">
                <a16:creationId xmlns:a16="http://schemas.microsoft.com/office/drawing/2014/main" id="{204F7E3F-1542-4300-01CB-AF6B6DBD6658}"/>
              </a:ext>
            </a:extLst>
          </p:cNvPr>
          <p:cNvSpPr txBox="1"/>
          <p:nvPr/>
        </p:nvSpPr>
        <p:spPr>
          <a:xfrm>
            <a:off x="392132" y="573748"/>
            <a:ext cx="11405853" cy="72635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br>
              <a:rPr lang="fr-FR" sz="3600">
                <a:latin typeface="Rockwell"/>
              </a:rPr>
            </a:br>
            <a:br>
              <a:rPr lang="fr-FR" sz="3600">
                <a:latin typeface="Rockwell"/>
              </a:rPr>
            </a:br>
            <a:r>
              <a:rPr lang="fr-FR" sz="3200">
                <a:latin typeface="Rockwell"/>
              </a:rPr>
              <a:t>On cherche désormais les directions (composantes) principales de variation des visages.</a:t>
            </a:r>
            <a:br>
              <a:rPr lang="fr-FR" sz="3200">
                <a:latin typeface="Rockwell"/>
              </a:rPr>
            </a:br>
            <a:br>
              <a:rPr lang="fr-FR" sz="3200">
                <a:latin typeface="Rockwell"/>
              </a:rPr>
            </a:br>
            <a:r>
              <a:rPr lang="fr-FR" sz="3200">
                <a:latin typeface="Rockwell"/>
              </a:rPr>
              <a:t>Il s'agit en fait des valeurs propres de notre matrice de covariance.</a:t>
            </a:r>
          </a:p>
          <a:p>
            <a:pPr marL="285750" indent="-285750">
              <a:buFont typeface="Arial"/>
              <a:buChar char="•"/>
            </a:pPr>
            <a:endParaRPr lang="fr-FR" sz="2000" b="1">
              <a:latin typeface="Rockwell"/>
              <a:cs typeface="Arial"/>
            </a:endParaRPr>
          </a:p>
          <a:p>
            <a:endParaRPr lang="fr-FR" sz="2000" b="1">
              <a:latin typeface="Rockwell"/>
              <a:cs typeface="Arial"/>
            </a:endParaRPr>
          </a:p>
          <a:p>
            <a:endParaRPr lang="fr-FR" sz="2000" b="1">
              <a:latin typeface="Rockwell"/>
              <a:cs typeface="Arial"/>
            </a:endParaRPr>
          </a:p>
          <a:p>
            <a:endParaRPr lang="fr-FR" sz="2000" b="1">
              <a:latin typeface="Rockwell"/>
              <a:cs typeface="Arial"/>
            </a:endParaRPr>
          </a:p>
          <a:p>
            <a:endParaRPr lang="fr-FR">
              <a:latin typeface="Rockwell"/>
              <a:cs typeface="Arial"/>
            </a:endParaRPr>
          </a:p>
          <a:p>
            <a:endParaRPr lang="fr-FR" sz="2000">
              <a:latin typeface="Rockwell"/>
              <a:cs typeface="Arial"/>
            </a:endParaRPr>
          </a:p>
          <a:p>
            <a:endParaRPr lang="fr-FR" sz="2000">
              <a:latin typeface="Rockwell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fr-FR" sz="2000" b="1">
              <a:latin typeface="Rockwell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fr-FR" sz="2000">
              <a:latin typeface="Rockwell"/>
              <a:cs typeface="Arial"/>
            </a:endParaRPr>
          </a:p>
          <a:p>
            <a:endParaRPr lang="fr-FR" sz="2000" b="1">
              <a:latin typeface="Rockwell"/>
              <a:cs typeface="Arial"/>
            </a:endParaRPr>
          </a:p>
          <a:p>
            <a:endParaRPr lang="fr-FR">
              <a:latin typeface="Rockwell"/>
              <a:cs typeface="Arial"/>
            </a:endParaRPr>
          </a:p>
          <a:p>
            <a:endParaRPr lang="fr-FR">
              <a:latin typeface="Rockwel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48656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0CC52-3DEF-A83A-BB39-D7F758E7E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1258A97-9B1F-2B25-81B2-BC057092C54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259051" y="426749"/>
            <a:ext cx="9142284" cy="4600575"/>
          </a:xfrm>
        </p:spPr>
        <p:txBody>
          <a:bodyPr vert="horz" lIns="91440" tIns="45720" rIns="91440" bIns="45720" rtlCol="0" anchor="t">
            <a:noAutofit/>
          </a:bodyPr>
          <a:lstStyle/>
          <a:p>
            <a:br>
              <a:rPr lang="fr-FR">
                <a:latin typeface="Rockwell"/>
              </a:rPr>
            </a:br>
            <a:endParaRPr lang="fr-FR">
              <a:latin typeface="Rockwell"/>
            </a:endParaRPr>
          </a:p>
          <a:p>
            <a:endParaRPr lang="fr-FR">
              <a:latin typeface="Rockwell"/>
            </a:endParaRPr>
          </a:p>
        </p:txBody>
      </p:sp>
      <p:sp>
        <p:nvSpPr>
          <p:cNvPr id="4" name="ZoneTexte 8">
            <a:extLst>
              <a:ext uri="{FF2B5EF4-FFF2-40B4-BE49-F238E27FC236}">
                <a16:creationId xmlns:a16="http://schemas.microsoft.com/office/drawing/2014/main" id="{DDEEB2A5-64CF-CCBD-D132-1B8913BB29D8}"/>
              </a:ext>
            </a:extLst>
          </p:cNvPr>
          <p:cNvSpPr txBox="1"/>
          <p:nvPr/>
        </p:nvSpPr>
        <p:spPr>
          <a:xfrm>
            <a:off x="392132" y="573748"/>
            <a:ext cx="11405853" cy="87408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br>
              <a:rPr lang="fr-FR" sz="3600">
                <a:latin typeface="Rockwell"/>
              </a:rPr>
            </a:br>
            <a:br>
              <a:rPr lang="fr-FR" sz="3600">
                <a:latin typeface="Rockwell"/>
              </a:rPr>
            </a:br>
            <a:r>
              <a:rPr lang="fr-FR" sz="3200">
                <a:latin typeface="Rockwell"/>
              </a:rPr>
              <a:t>On cherche désormais les directions (composante) principale de variation des visages.</a:t>
            </a:r>
            <a:br>
              <a:rPr lang="fr-FR" sz="3200">
                <a:latin typeface="Rockwell"/>
              </a:rPr>
            </a:br>
            <a:br>
              <a:rPr lang="fr-FR" sz="3200">
                <a:latin typeface="Rockwell"/>
              </a:rPr>
            </a:br>
            <a:r>
              <a:rPr lang="fr-FR" sz="3200">
                <a:latin typeface="Rockwell"/>
              </a:rPr>
              <a:t>Il s'agit enfaite des valeurs propres de notre matrice de covariance.</a:t>
            </a:r>
            <a:br>
              <a:rPr lang="fr-FR" sz="3200">
                <a:latin typeface="Rockwell"/>
              </a:rPr>
            </a:br>
            <a:br>
              <a:rPr lang="fr-FR" sz="3200">
                <a:latin typeface="Rockwell"/>
              </a:rPr>
            </a:br>
            <a:r>
              <a:rPr lang="fr-FR" sz="3200">
                <a:latin typeface="Rockwell"/>
              </a:rPr>
              <a:t>Mais cela nous expose a une nouvelle difficulté</a:t>
            </a:r>
          </a:p>
          <a:p>
            <a:endParaRPr lang="fr-FR" sz="3200">
              <a:latin typeface="Rockwell"/>
            </a:endParaRPr>
          </a:p>
          <a:p>
            <a:pPr marL="285750" indent="-285750">
              <a:buFont typeface="Arial"/>
              <a:buChar char="•"/>
            </a:pPr>
            <a:endParaRPr lang="fr-FR" sz="2000" b="1">
              <a:latin typeface="Rockwell"/>
              <a:cs typeface="Arial"/>
            </a:endParaRPr>
          </a:p>
          <a:p>
            <a:endParaRPr lang="fr-FR" sz="2000" b="1">
              <a:latin typeface="Rockwell"/>
              <a:cs typeface="Arial"/>
            </a:endParaRPr>
          </a:p>
          <a:p>
            <a:endParaRPr lang="fr-FR" sz="2000" b="1">
              <a:latin typeface="Rockwell"/>
              <a:cs typeface="Arial"/>
            </a:endParaRPr>
          </a:p>
          <a:p>
            <a:endParaRPr lang="fr-FR" sz="2000" b="1">
              <a:latin typeface="Rockwell"/>
              <a:cs typeface="Arial"/>
            </a:endParaRPr>
          </a:p>
          <a:p>
            <a:endParaRPr lang="fr-FR">
              <a:latin typeface="Rockwell"/>
              <a:cs typeface="Arial"/>
            </a:endParaRPr>
          </a:p>
          <a:p>
            <a:endParaRPr lang="fr-FR" sz="2000">
              <a:latin typeface="Rockwell"/>
              <a:cs typeface="Arial"/>
            </a:endParaRPr>
          </a:p>
          <a:p>
            <a:endParaRPr lang="fr-FR" sz="2000">
              <a:latin typeface="Rockwell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fr-FR" sz="2000" b="1">
              <a:latin typeface="Rockwell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fr-FR" sz="2000">
              <a:latin typeface="Rockwell"/>
              <a:cs typeface="Arial"/>
            </a:endParaRPr>
          </a:p>
          <a:p>
            <a:endParaRPr lang="fr-FR" sz="2000" b="1">
              <a:latin typeface="Rockwell"/>
              <a:cs typeface="Arial"/>
            </a:endParaRPr>
          </a:p>
          <a:p>
            <a:endParaRPr lang="fr-FR">
              <a:latin typeface="Rockwell"/>
              <a:cs typeface="Arial"/>
            </a:endParaRPr>
          </a:p>
          <a:p>
            <a:endParaRPr lang="fr-FR">
              <a:latin typeface="Rockwel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0127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49A84A0-B832-6474-A3E6-2836FEF6AE23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8199438" y="2587625"/>
            <a:ext cx="3992562" cy="3594100"/>
          </a:xfrm>
        </p:spPr>
        <p:txBody>
          <a:bodyPr/>
          <a:lstStyle/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5FEBC23-D58A-6B95-BE6A-D8309B039D24}"/>
              </a:ext>
            </a:extLst>
          </p:cNvPr>
          <p:cNvSpPr txBox="1"/>
          <p:nvPr/>
        </p:nvSpPr>
        <p:spPr>
          <a:xfrm>
            <a:off x="708819" y="576240"/>
            <a:ext cx="511105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fr-FR"/>
          </a:p>
          <a:p>
            <a:endParaRPr lang="fr-FR"/>
          </a:p>
          <a:p>
            <a:endParaRPr lang="fr-FR"/>
          </a:p>
        </p:txBody>
      </p:sp>
      <p:sp>
        <p:nvSpPr>
          <p:cNvPr id="2" name="ZoneTexte 8">
            <a:extLst>
              <a:ext uri="{FF2B5EF4-FFF2-40B4-BE49-F238E27FC236}">
                <a16:creationId xmlns:a16="http://schemas.microsoft.com/office/drawing/2014/main" id="{CE7625F1-4C99-1914-5B68-77819BCDDDBE}"/>
              </a:ext>
            </a:extLst>
          </p:cNvPr>
          <p:cNvSpPr txBox="1"/>
          <p:nvPr/>
        </p:nvSpPr>
        <p:spPr>
          <a:xfrm>
            <a:off x="848340" y="715761"/>
            <a:ext cx="511105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fr-FR"/>
          </a:p>
          <a:p>
            <a:endParaRPr lang="fr-FR"/>
          </a:p>
          <a:p>
            <a:endParaRPr lang="fr-FR"/>
          </a:p>
        </p:txBody>
      </p:sp>
      <p:sp>
        <p:nvSpPr>
          <p:cNvPr id="5" name="ZoneTexte 8">
            <a:extLst>
              <a:ext uri="{FF2B5EF4-FFF2-40B4-BE49-F238E27FC236}">
                <a16:creationId xmlns:a16="http://schemas.microsoft.com/office/drawing/2014/main" id="{FE59B0C6-CAF6-CE6C-F74B-CC13DD471370}"/>
              </a:ext>
            </a:extLst>
          </p:cNvPr>
          <p:cNvSpPr txBox="1"/>
          <p:nvPr/>
        </p:nvSpPr>
        <p:spPr>
          <a:xfrm>
            <a:off x="258643" y="857"/>
            <a:ext cx="11405853" cy="96949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fr-FR"/>
          </a:p>
          <a:p>
            <a:pPr marL="285750" indent="-285750">
              <a:buFont typeface="Arial"/>
              <a:buChar char="•"/>
            </a:pPr>
            <a:endParaRPr lang="fr-FR" sz="2000" b="1">
              <a:latin typeface="Rockwell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fr-FR" sz="2000" b="1">
              <a:latin typeface="Rockwell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fr-FR" sz="2000" b="1">
              <a:latin typeface="Rockwell"/>
              <a:cs typeface="Arial"/>
            </a:endParaRPr>
          </a:p>
          <a:p>
            <a:r>
              <a:rPr lang="fr-FR" sz="2400" b="1">
                <a:latin typeface="Rockwell"/>
                <a:cs typeface="Arial"/>
              </a:rPr>
              <a:t>  Problème de taille et coût du calcul des valeurs propres et vecteurs propres:</a:t>
            </a:r>
            <a:br>
              <a:rPr lang="fr-FR" sz="2400" b="1">
                <a:latin typeface="Rockwell"/>
                <a:cs typeface="Arial"/>
              </a:rPr>
            </a:br>
            <a:endParaRPr lang="fr-FR" sz="2400" b="1">
              <a:latin typeface="Rockwell"/>
              <a:cs typeface="Arial"/>
            </a:endParaRPr>
          </a:p>
          <a:p>
            <a:endParaRPr lang="fr-FR" sz="2000" b="1">
              <a:latin typeface="Rockwell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fr-FR" sz="2000" b="1">
              <a:latin typeface="Rockwel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fr-FR" sz="2000">
                <a:latin typeface="Rockwell"/>
                <a:cs typeface="Arial"/>
              </a:rPr>
              <a:t>Cette étape consiste à calculer les vecteurs propres et valeurs propres  </a:t>
            </a:r>
            <a:r>
              <a:rPr lang="fr-FR" sz="2400">
                <a:latin typeface="Rockwell"/>
                <a:cs typeface="Arial"/>
              </a:rPr>
              <a:t>C</a:t>
            </a:r>
            <a:r>
              <a:rPr lang="fr-FR" sz="2000">
                <a:latin typeface="Rockwell"/>
                <a:cs typeface="Arial"/>
              </a:rPr>
              <a:t>=</a:t>
            </a:r>
            <a:r>
              <a:rPr lang="fr-FR" sz="2400">
                <a:latin typeface="Rockwell"/>
                <a:cs typeface="Arial"/>
              </a:rPr>
              <a:t>A' A'ᵀ (notre matrice de covariance) </a:t>
            </a:r>
          </a:p>
          <a:p>
            <a:endParaRPr lang="fr-FR" sz="2000">
              <a:latin typeface="Rockwel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fr-FR" sz="2000">
                <a:latin typeface="Rockwell"/>
                <a:cs typeface="Arial"/>
              </a:rPr>
              <a:t>On considère les vecteurs propres e</a:t>
            </a:r>
            <a:r>
              <a:rPr lang="fr-FR" sz="2000">
                <a:ea typeface="+mn-lt"/>
                <a:cs typeface="+mn-lt"/>
              </a:rPr>
              <a:t>ᵢ </a:t>
            </a:r>
            <a:r>
              <a:rPr lang="fr-FR" sz="2000">
                <a:latin typeface="Rockwell"/>
                <a:ea typeface="+mn-lt"/>
                <a:cs typeface="+mn-lt"/>
              </a:rPr>
              <a:t>de C associés aux valeurs propres l</a:t>
            </a:r>
            <a:r>
              <a:rPr lang="fr-FR" sz="2000">
                <a:latin typeface="Franklin Gothic Medium"/>
                <a:ea typeface="+mn-lt"/>
                <a:cs typeface="+mn-lt"/>
              </a:rPr>
              <a:t>ᵢ:</a:t>
            </a:r>
            <a:endParaRPr lang="fr-FR" sz="2000">
              <a:latin typeface="Rockwell"/>
              <a:ea typeface="+mn-lt"/>
              <a:cs typeface="Arial"/>
            </a:endParaRPr>
          </a:p>
          <a:p>
            <a:r>
              <a:rPr lang="fr-FR" sz="2400">
                <a:latin typeface="Rockwell"/>
                <a:ea typeface="+mn-lt"/>
                <a:cs typeface="Arial"/>
              </a:rPr>
              <a:t>                Ceᵢ</a:t>
            </a:r>
            <a:r>
              <a:rPr lang="fr-FR" sz="2400">
                <a:latin typeface="Rockwell"/>
                <a:ea typeface="+mn-lt"/>
                <a:cs typeface="+mn-lt"/>
              </a:rPr>
              <a:t>=</a:t>
            </a:r>
            <a:r>
              <a:rPr lang="fr-FR" sz="2400" err="1">
                <a:latin typeface="Rockwell"/>
                <a:ea typeface="+mn-lt"/>
                <a:cs typeface="+mn-lt"/>
              </a:rPr>
              <a:t>lᵢe</a:t>
            </a:r>
            <a:r>
              <a:rPr lang="fr-FR" sz="2400">
                <a:latin typeface="Rockwell"/>
                <a:ea typeface="+mn-lt"/>
                <a:cs typeface="+mn-lt"/>
              </a:rPr>
              <a:t>ᵢ</a:t>
            </a:r>
            <a:br>
              <a:rPr lang="fr-FR" sz="2400">
                <a:latin typeface="Rockwell"/>
                <a:ea typeface="+mn-lt"/>
                <a:cs typeface="+mn-lt"/>
              </a:rPr>
            </a:br>
            <a:br>
              <a:rPr lang="fr-FR" sz="2400">
                <a:latin typeface="Rockwell"/>
                <a:ea typeface="+mn-lt"/>
                <a:cs typeface="+mn-lt"/>
              </a:rPr>
            </a:br>
            <a:br>
              <a:rPr lang="fr-FR" sz="2400">
                <a:latin typeface="Rockwell"/>
                <a:ea typeface="+mn-lt"/>
                <a:cs typeface="+mn-lt"/>
              </a:rPr>
            </a:br>
            <a:br>
              <a:rPr lang="fr-FR" sz="2400">
                <a:latin typeface="Rockwell"/>
                <a:ea typeface="+mn-lt"/>
                <a:cs typeface="+mn-lt"/>
              </a:rPr>
            </a:br>
            <a:r>
              <a:rPr lang="fr-FR" sz="2400">
                <a:ea typeface="+mn-lt"/>
                <a:cs typeface="+mn-lt"/>
              </a:rPr>
              <a:t>Temps de calcul des valeurs propres  ≈ O((H·W)³) </a:t>
            </a:r>
            <a:endParaRPr lang="fr-FR" sz="2400">
              <a:latin typeface="Franklin Gothic Medium"/>
              <a:cs typeface="Arial"/>
            </a:endParaRPr>
          </a:p>
          <a:p>
            <a:endParaRPr lang="fr-FR" sz="2400">
              <a:latin typeface="Rockwell"/>
              <a:cs typeface="Arial"/>
            </a:endParaRPr>
          </a:p>
          <a:p>
            <a:endParaRPr lang="fr-FR" sz="2400">
              <a:latin typeface="Rockwell"/>
              <a:cs typeface="Arial"/>
            </a:endParaRPr>
          </a:p>
          <a:p>
            <a:endParaRPr lang="fr-FR" sz="2400">
              <a:latin typeface="Rockwell"/>
              <a:cs typeface="Arial"/>
            </a:endParaRPr>
          </a:p>
          <a:p>
            <a:endParaRPr lang="fr-FR">
              <a:latin typeface="Rockwell"/>
              <a:cs typeface="Arial"/>
            </a:endParaRPr>
          </a:p>
          <a:p>
            <a:endParaRPr lang="fr-FR" sz="2000">
              <a:latin typeface="Franklin Gothic Medium"/>
              <a:cs typeface="Arial"/>
            </a:endParaRPr>
          </a:p>
          <a:p>
            <a:endParaRPr lang="fr-FR" sz="2000">
              <a:latin typeface="Franklin Gothic Medium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fr-FR" sz="2000" b="1">
              <a:latin typeface="Rockwell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fr-FR" sz="2000">
              <a:latin typeface="Rockwell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fr-FR" sz="2000" b="1">
              <a:latin typeface="Rockwell"/>
              <a:cs typeface="Arial"/>
            </a:endParaRPr>
          </a:p>
          <a:p>
            <a:endParaRPr lang="fr-FR">
              <a:latin typeface="Franklin Gothic Medium" panose="020B0603020102020204"/>
              <a:cs typeface="Arial"/>
            </a:endParaRPr>
          </a:p>
          <a:p>
            <a:endParaRPr lang="fr-FR">
              <a:latin typeface="Franklin Gothic Medium" panose="020B0603020102020204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9241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FC0C1-F047-1E55-AEB9-4802017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7D34A40-0A0A-60AE-4B00-C1CB7892BAC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8199438" y="2587625"/>
            <a:ext cx="3992562" cy="3594100"/>
          </a:xfrm>
        </p:spPr>
        <p:txBody>
          <a:bodyPr/>
          <a:lstStyle/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27BDC69-DC75-9A2C-C057-385AD17B5C61}"/>
              </a:ext>
            </a:extLst>
          </p:cNvPr>
          <p:cNvSpPr txBox="1"/>
          <p:nvPr/>
        </p:nvSpPr>
        <p:spPr>
          <a:xfrm>
            <a:off x="708819" y="576240"/>
            <a:ext cx="511105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fr-FR"/>
          </a:p>
          <a:p>
            <a:endParaRPr lang="fr-FR"/>
          </a:p>
          <a:p>
            <a:endParaRPr lang="fr-FR"/>
          </a:p>
        </p:txBody>
      </p:sp>
      <p:sp>
        <p:nvSpPr>
          <p:cNvPr id="2" name="ZoneTexte 8">
            <a:extLst>
              <a:ext uri="{FF2B5EF4-FFF2-40B4-BE49-F238E27FC236}">
                <a16:creationId xmlns:a16="http://schemas.microsoft.com/office/drawing/2014/main" id="{5E9399F5-6301-4F75-A897-E8E22D114172}"/>
              </a:ext>
            </a:extLst>
          </p:cNvPr>
          <p:cNvSpPr txBox="1"/>
          <p:nvPr/>
        </p:nvSpPr>
        <p:spPr>
          <a:xfrm>
            <a:off x="848340" y="715761"/>
            <a:ext cx="511105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fr-FR"/>
          </a:p>
          <a:p>
            <a:endParaRPr lang="fr-FR"/>
          </a:p>
          <a:p>
            <a:endParaRPr lang="fr-FR"/>
          </a:p>
        </p:txBody>
      </p:sp>
      <p:sp>
        <p:nvSpPr>
          <p:cNvPr id="5" name="ZoneTexte 8">
            <a:extLst>
              <a:ext uri="{FF2B5EF4-FFF2-40B4-BE49-F238E27FC236}">
                <a16:creationId xmlns:a16="http://schemas.microsoft.com/office/drawing/2014/main" id="{1DC1C6F4-6A85-3C82-B88B-73675C8A06FA}"/>
              </a:ext>
            </a:extLst>
          </p:cNvPr>
          <p:cNvSpPr txBox="1"/>
          <p:nvPr/>
        </p:nvSpPr>
        <p:spPr>
          <a:xfrm>
            <a:off x="258643" y="857"/>
            <a:ext cx="11405853" cy="120956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fr-FR"/>
          </a:p>
          <a:p>
            <a:pPr marL="285750" indent="-285750">
              <a:buFont typeface="Arial"/>
              <a:buChar char="•"/>
            </a:pPr>
            <a:endParaRPr lang="fr-FR" sz="2000" b="1">
              <a:latin typeface="Rockwell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fr-FR" sz="2000" b="1">
              <a:latin typeface="Rockwell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fr-FR" sz="2000" b="1">
              <a:latin typeface="Rockwell"/>
              <a:cs typeface="Arial"/>
            </a:endParaRPr>
          </a:p>
          <a:p>
            <a:r>
              <a:rPr lang="fr-FR" sz="2400" b="1">
                <a:latin typeface="Rockwell"/>
                <a:cs typeface="Arial"/>
              </a:rPr>
              <a:t>  Problème de taille et coût du calcul des valeurs propres et vecteurs propres:</a:t>
            </a:r>
            <a:br>
              <a:rPr lang="fr-FR" sz="2400" b="1">
                <a:latin typeface="Rockwell"/>
                <a:cs typeface="Arial"/>
              </a:rPr>
            </a:br>
            <a:endParaRPr lang="fr-FR" sz="2400" b="1">
              <a:latin typeface="Rockwell"/>
              <a:cs typeface="Arial"/>
            </a:endParaRPr>
          </a:p>
          <a:p>
            <a:endParaRPr lang="fr-FR" sz="2000" b="1">
              <a:latin typeface="Rockwell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fr-FR" sz="2000" b="1">
              <a:latin typeface="Rockwel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fr-FR" sz="2000">
                <a:latin typeface="Rockwell"/>
                <a:cs typeface="Arial"/>
              </a:rPr>
              <a:t>Cette étape consiste à calculer les vecteurs propres et valeurs propres  </a:t>
            </a:r>
            <a:r>
              <a:rPr lang="fr-FR" sz="2400">
                <a:latin typeface="Rockwell"/>
                <a:cs typeface="Arial"/>
              </a:rPr>
              <a:t>C</a:t>
            </a:r>
            <a:r>
              <a:rPr lang="fr-FR" sz="2000">
                <a:latin typeface="Rockwell"/>
                <a:cs typeface="Arial"/>
              </a:rPr>
              <a:t>=</a:t>
            </a:r>
            <a:r>
              <a:rPr lang="fr-FR" sz="2400">
                <a:latin typeface="Rockwell"/>
                <a:cs typeface="Arial"/>
              </a:rPr>
              <a:t>A' A'ᵀ (notre matrice de covariance)</a:t>
            </a:r>
          </a:p>
          <a:p>
            <a:endParaRPr lang="fr-FR" sz="2000">
              <a:latin typeface="Rockwel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fr-FR" sz="2000">
                <a:latin typeface="Rockwell"/>
                <a:cs typeface="Arial"/>
              </a:rPr>
              <a:t>On considère les vecteurs propres e</a:t>
            </a:r>
            <a:r>
              <a:rPr lang="fr-FR" sz="2000">
                <a:ea typeface="+mn-lt"/>
                <a:cs typeface="+mn-lt"/>
              </a:rPr>
              <a:t>ᵢ </a:t>
            </a:r>
            <a:r>
              <a:rPr lang="fr-FR" sz="2000">
                <a:latin typeface="Rockwell"/>
                <a:ea typeface="+mn-lt"/>
                <a:cs typeface="+mn-lt"/>
              </a:rPr>
              <a:t>de C associés aux valeurs propres l</a:t>
            </a:r>
            <a:r>
              <a:rPr lang="fr-FR" sz="2000">
                <a:latin typeface="Franklin Gothic Medium"/>
                <a:ea typeface="+mn-lt"/>
                <a:cs typeface="+mn-lt"/>
              </a:rPr>
              <a:t>ᵢ:</a:t>
            </a:r>
            <a:endParaRPr lang="fr-FR" sz="2000">
              <a:latin typeface="Rockwell"/>
              <a:ea typeface="+mn-lt"/>
              <a:cs typeface="Arial"/>
            </a:endParaRPr>
          </a:p>
          <a:p>
            <a:r>
              <a:rPr lang="fr-FR" sz="2400">
                <a:latin typeface="Rockwell"/>
                <a:ea typeface="+mn-lt"/>
                <a:cs typeface="Arial"/>
              </a:rPr>
              <a:t>                Ceᵢ</a:t>
            </a:r>
            <a:r>
              <a:rPr lang="fr-FR" sz="2400">
                <a:latin typeface="Rockwell"/>
                <a:ea typeface="+mn-lt"/>
                <a:cs typeface="+mn-lt"/>
              </a:rPr>
              <a:t>=</a:t>
            </a:r>
            <a:r>
              <a:rPr lang="fr-FR" sz="2400" err="1">
                <a:latin typeface="Rockwell"/>
                <a:ea typeface="+mn-lt"/>
                <a:cs typeface="+mn-lt"/>
              </a:rPr>
              <a:t>lᵢe</a:t>
            </a:r>
            <a:r>
              <a:rPr lang="fr-FR" sz="2400">
                <a:latin typeface="Rockwell"/>
                <a:ea typeface="+mn-lt"/>
                <a:cs typeface="+mn-lt"/>
              </a:rPr>
              <a:t>ᵢ</a:t>
            </a:r>
            <a:br>
              <a:rPr lang="fr-FR" sz="2400">
                <a:latin typeface="Rockwell"/>
                <a:ea typeface="+mn-lt"/>
                <a:cs typeface="+mn-lt"/>
              </a:rPr>
            </a:br>
            <a:br>
              <a:rPr lang="fr-FR" sz="2400">
                <a:latin typeface="Rockwell"/>
                <a:ea typeface="+mn-lt"/>
                <a:cs typeface="+mn-lt"/>
              </a:rPr>
            </a:br>
            <a:endParaRPr lang="fr-FR" sz="2400">
              <a:latin typeface="Rockwell"/>
              <a:ea typeface="+mn-lt"/>
              <a:cs typeface="+mn-lt"/>
            </a:endParaRPr>
          </a:p>
          <a:p>
            <a:r>
              <a:rPr lang="fr-FR" sz="2000" b="1">
                <a:latin typeface="Rockwell"/>
                <a:ea typeface="+mn-lt"/>
                <a:cs typeface="+mn-lt"/>
              </a:rPr>
              <a:t>Optimisation via une matrice réduite pour accélérer les calculs :</a:t>
            </a:r>
            <a:endParaRPr lang="fr-FR" sz="2000">
              <a:latin typeface="Rockwell"/>
              <a:ea typeface="+mn-lt"/>
              <a:cs typeface="+mn-lt"/>
            </a:endParaRPr>
          </a:p>
          <a:p>
            <a:endParaRPr lang="fr-FR" sz="2000">
              <a:latin typeface="Rockwell"/>
              <a:ea typeface="+mn-lt"/>
              <a:cs typeface="+mn-lt"/>
            </a:endParaRPr>
          </a:p>
          <a:p>
            <a:r>
              <a:rPr lang="fr-FR" sz="2000">
                <a:latin typeface="Rockwell"/>
                <a:ea typeface="+mn-lt"/>
                <a:cs typeface="+mn-lt"/>
              </a:rPr>
              <a:t>Considérons la matrice </a:t>
            </a:r>
            <a:r>
              <a:rPr lang="fr-FR" sz="2400">
                <a:latin typeface="Rockwell"/>
                <a:ea typeface="+mn-lt"/>
                <a:cs typeface="+mn-lt"/>
              </a:rPr>
              <a:t>L</a:t>
            </a:r>
            <a:r>
              <a:rPr lang="fr-FR" sz="2000">
                <a:latin typeface="Rockwell"/>
                <a:ea typeface="+mn-lt"/>
                <a:cs typeface="+mn-lt"/>
              </a:rPr>
              <a:t>=</a:t>
            </a:r>
            <a:r>
              <a:rPr lang="fr-FR" sz="2400">
                <a:latin typeface="Rockwell"/>
                <a:ea typeface="+mn-lt"/>
                <a:cs typeface="+mn-lt"/>
              </a:rPr>
              <a:t>A'ᵀ A'</a:t>
            </a:r>
            <a:r>
              <a:rPr lang="fr-FR" sz="2000">
                <a:latin typeface="Rockwell"/>
                <a:ea typeface="+mn-lt"/>
                <a:cs typeface="+mn-lt"/>
              </a:rPr>
              <a:t> de taille E x E, plus petite dans le cas où E&lt;&lt;N</a:t>
            </a:r>
            <a:br>
              <a:rPr lang="fr-FR" sz="2400">
                <a:latin typeface="Rockwell"/>
                <a:ea typeface="+mn-lt"/>
                <a:cs typeface="+mn-lt"/>
              </a:rPr>
            </a:br>
            <a:r>
              <a:rPr lang="fr-FR" sz="2400">
                <a:ea typeface="+mn-lt"/>
                <a:cs typeface="+mn-lt"/>
              </a:rPr>
              <a:t>Temps de calcul ≈ O(E³)</a:t>
            </a:r>
            <a:br>
              <a:rPr lang="fr-FR" sz="2400">
                <a:latin typeface="Rockwell"/>
                <a:ea typeface="+mn-lt"/>
                <a:cs typeface="+mn-lt"/>
              </a:rPr>
            </a:br>
            <a:br>
              <a:rPr lang="fr-FR" sz="2400">
                <a:latin typeface="Rockwell"/>
                <a:ea typeface="+mn-lt"/>
                <a:cs typeface="+mn-lt"/>
              </a:rPr>
            </a:br>
            <a:endParaRPr lang="fr-FR" sz="2400">
              <a:latin typeface="Rockwell"/>
              <a:ea typeface="+mn-lt"/>
              <a:cs typeface="Arial"/>
            </a:endParaRPr>
          </a:p>
          <a:p>
            <a:endParaRPr lang="fr-FR" sz="2400">
              <a:latin typeface="Rockwell"/>
              <a:cs typeface="Arial"/>
            </a:endParaRPr>
          </a:p>
          <a:p>
            <a:endParaRPr lang="fr-FR" sz="2000">
              <a:latin typeface="Rockwell"/>
              <a:cs typeface="Arial"/>
            </a:endParaRPr>
          </a:p>
          <a:p>
            <a:endParaRPr lang="fr-FR" sz="2400">
              <a:latin typeface="Rockwell"/>
              <a:cs typeface="Arial"/>
            </a:endParaRPr>
          </a:p>
          <a:p>
            <a:endParaRPr lang="fr-FR" sz="2400">
              <a:latin typeface="Rockwell"/>
              <a:cs typeface="Arial"/>
            </a:endParaRPr>
          </a:p>
          <a:p>
            <a:endParaRPr lang="fr-FR" sz="2400">
              <a:latin typeface="Rockwell"/>
              <a:cs typeface="Arial"/>
            </a:endParaRPr>
          </a:p>
          <a:p>
            <a:endParaRPr lang="fr-FR">
              <a:latin typeface="Rockwell"/>
              <a:cs typeface="Arial"/>
            </a:endParaRPr>
          </a:p>
          <a:p>
            <a:endParaRPr lang="fr-FR" sz="2000">
              <a:latin typeface="Franklin Gothic Medium"/>
              <a:cs typeface="Arial"/>
            </a:endParaRPr>
          </a:p>
          <a:p>
            <a:endParaRPr lang="fr-FR" sz="2000">
              <a:latin typeface="Franklin Gothic Medium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fr-FR" sz="2000" b="1">
              <a:latin typeface="Rockwell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fr-FR" sz="2000">
              <a:latin typeface="Rockwell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fr-FR" sz="2000" b="1">
              <a:latin typeface="Rockwell"/>
              <a:cs typeface="Arial"/>
            </a:endParaRPr>
          </a:p>
          <a:p>
            <a:endParaRPr lang="fr-FR">
              <a:latin typeface="Franklin Gothic Medium" panose="020B0603020102020204"/>
              <a:cs typeface="Arial"/>
            </a:endParaRPr>
          </a:p>
          <a:p>
            <a:endParaRPr lang="fr-FR">
              <a:latin typeface="Franklin Gothic Medium" panose="020B0603020102020204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7616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095BB66F-3A1D-9D37-ECE2-66D017A5546A}"/>
              </a:ext>
            </a:extLst>
          </p:cNvPr>
          <p:cNvSpPr txBox="1"/>
          <p:nvPr/>
        </p:nvSpPr>
        <p:spPr>
          <a:xfrm>
            <a:off x="271545" y="2119053"/>
            <a:ext cx="11654191" cy="59400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fr-FR" sz="2000">
              <a:latin typeface="Rockwell"/>
            </a:endParaRPr>
          </a:p>
          <a:p>
            <a:r>
              <a:rPr lang="fr-FR" sz="2000" b="1">
                <a:latin typeface="Rockwell"/>
                <a:cs typeface="Arial"/>
              </a:rPr>
              <a:t>Résolution du problème spectral sur une matrice de taille réduite</a:t>
            </a:r>
            <a:endParaRPr lang="fr-FR" sz="2000">
              <a:latin typeface="Rockwell"/>
            </a:endParaRPr>
          </a:p>
          <a:p>
            <a:r>
              <a:rPr lang="fr-FR" sz="2000">
                <a:latin typeface="Rockwell"/>
                <a:cs typeface="Arial"/>
              </a:rPr>
              <a:t>On considère ses vecteurs propres v</a:t>
            </a:r>
            <a:r>
              <a:rPr lang="fr-FR" sz="2000">
                <a:latin typeface="Franklin Gothic Medium"/>
                <a:cs typeface="Arial"/>
              </a:rPr>
              <a:t>ᵢ associés à ses</a:t>
            </a:r>
            <a:r>
              <a:rPr lang="fr-FR" sz="2000">
                <a:latin typeface="Rockwell"/>
                <a:cs typeface="Arial"/>
              </a:rPr>
              <a:t> valeurs propres k</a:t>
            </a:r>
            <a:r>
              <a:rPr lang="fr-FR" sz="2000">
                <a:latin typeface="Franklin Gothic Medium"/>
                <a:cs typeface="Arial"/>
              </a:rPr>
              <a:t>ᵢ</a:t>
            </a:r>
            <a:r>
              <a:rPr lang="fr-FR" sz="2000">
                <a:latin typeface="Rockwell"/>
                <a:cs typeface="Arial"/>
              </a:rPr>
              <a:t> :</a:t>
            </a:r>
            <a:endParaRPr lang="en-US" sz="2000">
              <a:latin typeface="Rockwell"/>
              <a:cs typeface="Arial"/>
            </a:endParaRPr>
          </a:p>
          <a:p>
            <a:r>
              <a:rPr lang="fr-FR" sz="2000">
                <a:latin typeface="Rockwell"/>
                <a:cs typeface="Arial"/>
              </a:rPr>
              <a:t>                   </a:t>
            </a:r>
            <a:r>
              <a:rPr lang="fr-FR" sz="2400" err="1">
                <a:latin typeface="Rockwell"/>
                <a:cs typeface="Arial"/>
              </a:rPr>
              <a:t>Lv</a:t>
            </a:r>
            <a:r>
              <a:rPr lang="fr-FR" sz="2400">
                <a:latin typeface="Franklin Gothic Medium"/>
                <a:cs typeface="Arial"/>
              </a:rPr>
              <a:t>ᵢ=</a:t>
            </a:r>
            <a:r>
              <a:rPr lang="fr-FR" sz="2400">
                <a:latin typeface="Rockwell"/>
                <a:cs typeface="Arial"/>
              </a:rPr>
              <a:t>kᵢ vᵢ</a:t>
            </a:r>
          </a:p>
          <a:p>
            <a:r>
              <a:rPr lang="fr-FR" sz="2000">
                <a:latin typeface="Rockwell"/>
                <a:cs typeface="Arial"/>
              </a:rPr>
              <a:t>Soit</a:t>
            </a:r>
            <a:r>
              <a:rPr lang="fr-FR" sz="2000">
                <a:latin typeface="Franklin Gothic Medium"/>
                <a:cs typeface="Arial"/>
              </a:rPr>
              <a:t> </a:t>
            </a:r>
            <a:r>
              <a:rPr lang="fr-FR" sz="2400">
                <a:latin typeface="Rockwell"/>
                <a:cs typeface="Arial"/>
              </a:rPr>
              <a:t>A'ᵀ A' vᵢ = kᵢ vᵢ</a:t>
            </a:r>
            <a:endParaRPr lang="fr-FR"/>
          </a:p>
          <a:p>
            <a:r>
              <a:rPr lang="fr-FR" sz="2000">
                <a:latin typeface="Rockwell"/>
              </a:rPr>
              <a:t>On calcule ensuite de chaque côté par A :   </a:t>
            </a:r>
            <a:endParaRPr lang="en-US" sz="2000">
              <a:latin typeface="Rockwell"/>
            </a:endParaRPr>
          </a:p>
          <a:p>
            <a:r>
              <a:rPr lang="fr-FR" sz="2400">
                <a:latin typeface="Rockwell"/>
              </a:rPr>
              <a:t>             A' A'ᵀ A' vᵢ = A kᵢ vᵢ</a:t>
            </a:r>
            <a:endParaRPr lang="fr-FR">
              <a:latin typeface="Franklin Gothic Medium"/>
            </a:endParaRPr>
          </a:p>
          <a:p>
            <a:r>
              <a:rPr lang="fr-FR" sz="2000" b="1">
                <a:latin typeface="Rockwell"/>
                <a:cs typeface="Arial"/>
              </a:rPr>
              <a:t>Reconstruction des vecteurs propres associés à la matrice initiale</a:t>
            </a:r>
            <a:endParaRPr lang="fr-FR" sz="2000">
              <a:latin typeface="Rockwell"/>
            </a:endParaRPr>
          </a:p>
          <a:p>
            <a:endParaRPr lang="fr-FR" sz="2000">
              <a:latin typeface="Rockwell"/>
            </a:endParaRPr>
          </a:p>
          <a:p>
            <a:r>
              <a:rPr lang="fr-FR" sz="2000">
                <a:latin typeface="Rockwell"/>
              </a:rPr>
              <a:t>On retrouve la matrice C dans cette égalité : </a:t>
            </a:r>
            <a:r>
              <a:rPr lang="fr-FR" sz="2400">
                <a:solidFill>
                  <a:srgbClr val="404040"/>
                </a:solidFill>
                <a:latin typeface="Rockwell"/>
              </a:rPr>
              <a:t>𝐶(𝐴𝑣ᵢ) = 𝑘ᵢ(𝐴𝑣ᵢ)</a:t>
            </a:r>
            <a:endParaRPr lang="fr-FR"/>
          </a:p>
          <a:p>
            <a:endParaRPr lang="fr-FR" sz="2400">
              <a:solidFill>
                <a:srgbClr val="404040"/>
              </a:solidFill>
              <a:latin typeface="Rockwell"/>
            </a:endParaRPr>
          </a:p>
          <a:p>
            <a:r>
              <a:rPr lang="fr-FR" sz="2000">
                <a:solidFill>
                  <a:srgbClr val="404040"/>
                </a:solidFill>
                <a:latin typeface="Rockwell"/>
              </a:rPr>
              <a:t>On remarque alors que </a:t>
            </a:r>
            <a:r>
              <a:rPr lang="fr-FR" sz="2400">
                <a:solidFill>
                  <a:srgbClr val="404040"/>
                </a:solidFill>
                <a:latin typeface="Rockwell"/>
              </a:rPr>
              <a:t>𝐴𝑣ᵢ et 𝑘ᵢ </a:t>
            </a:r>
            <a:r>
              <a:rPr lang="fr-FR" sz="2000">
                <a:solidFill>
                  <a:srgbClr val="404040"/>
                </a:solidFill>
                <a:latin typeface="Rockwell"/>
              </a:rPr>
              <a:t>sont les vecteurs et valeurs propres de C, donc:</a:t>
            </a:r>
            <a:endParaRPr lang="fr-FR">
              <a:latin typeface="Franklin Gothic Medium"/>
            </a:endParaRPr>
          </a:p>
          <a:p>
            <a:pPr marL="285750" indent="-285750">
              <a:buFont typeface="Arial"/>
              <a:buChar char="•"/>
            </a:pPr>
            <a:r>
              <a:rPr lang="fr-FR" sz="2400">
                <a:solidFill>
                  <a:srgbClr val="404040"/>
                </a:solidFill>
                <a:latin typeface="Rockwell"/>
              </a:rPr>
              <a:t>𝑒ᵢ = 𝐴𝑣ᵢ</a:t>
            </a:r>
            <a:endParaRPr lang="fr-FR" sz="2400">
              <a:latin typeface="Rockwell"/>
            </a:endParaRPr>
          </a:p>
          <a:p>
            <a:pPr marL="285750" indent="-285750">
              <a:buFont typeface="Arial"/>
              <a:buChar char="•"/>
            </a:pPr>
            <a:r>
              <a:rPr lang="fr-FR" sz="2400">
                <a:solidFill>
                  <a:srgbClr val="404040"/>
                </a:solidFill>
                <a:latin typeface="Rockwell"/>
              </a:rPr>
              <a:t>𝑙ᵢ = kᵢ</a:t>
            </a:r>
            <a:endParaRPr lang="fr-FR">
              <a:latin typeface="Rockwell"/>
            </a:endParaRPr>
          </a:p>
          <a:p>
            <a:endParaRPr lang="fr-FR" sz="2400">
              <a:solidFill>
                <a:srgbClr val="404040"/>
              </a:solidFill>
              <a:latin typeface="Rockwell"/>
            </a:endParaRPr>
          </a:p>
          <a:p>
            <a:endParaRPr lang="fr-FR" sz="2000">
              <a:solidFill>
                <a:srgbClr val="404040"/>
              </a:solidFill>
              <a:latin typeface="Rockwell"/>
            </a:endParaRPr>
          </a:p>
          <a:p>
            <a:endParaRPr lang="fr-FR" sz="2000">
              <a:latin typeface="Rockwell"/>
            </a:endParaRP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97A995BF-9DB4-D090-389D-EF4F5679C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b="1">
                <a:latin typeface="Rockwell"/>
              </a:rPr>
              <a:t>III - </a:t>
            </a:r>
            <a:r>
              <a:rPr lang="fr-FR" sz="3600" b="1">
                <a:latin typeface="Rockwell"/>
                <a:cs typeface="Arial"/>
              </a:rPr>
              <a:t>Décomposition en valeurs propres et réduction de dimension</a:t>
            </a:r>
            <a:endParaRPr lang="fr-FR" sz="3600" b="1">
              <a:latin typeface="Rockwell"/>
            </a:endParaRPr>
          </a:p>
        </p:txBody>
      </p:sp>
    </p:spTree>
    <p:extLst>
      <p:ext uri="{BB962C8B-B14F-4D97-AF65-F5344CB8AC3E}">
        <p14:creationId xmlns:p14="http://schemas.microsoft.com/office/powerpoint/2010/main" val="3926690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3218C672-77AC-F1A8-07D3-05F2DBC02301}"/>
              </a:ext>
            </a:extLst>
          </p:cNvPr>
          <p:cNvSpPr txBox="1"/>
          <p:nvPr/>
        </p:nvSpPr>
        <p:spPr>
          <a:xfrm>
            <a:off x="281956" y="250627"/>
            <a:ext cx="11763841" cy="32008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3200">
                <a:latin typeface="Rockwell"/>
                <a:cs typeface="Arial"/>
              </a:rPr>
              <a:t>C'est maintenant que l'intérêt de l'algorithme ACP entre en jeu</a:t>
            </a:r>
            <a:endParaRPr lang="en-US" sz="3200">
              <a:latin typeface="Rockwell"/>
            </a:endParaRPr>
          </a:p>
          <a:p>
            <a:endParaRPr lang="fr-FR" sz="2000">
              <a:latin typeface="Rockwell"/>
              <a:cs typeface="Arial"/>
            </a:endParaRPr>
          </a:p>
          <a:p>
            <a:r>
              <a:rPr lang="fr-FR" sz="2000">
                <a:latin typeface="Rockwell"/>
                <a:ea typeface="+mn-lt"/>
                <a:cs typeface="+mn-lt"/>
              </a:rPr>
              <a:t>Les valeurs propres sont triées dans l'ordre décroissant.</a:t>
            </a:r>
            <a:br>
              <a:rPr lang="fr-FR" sz="2000">
                <a:latin typeface="Rockwell"/>
                <a:ea typeface="+mn-lt"/>
                <a:cs typeface="+mn-lt"/>
              </a:rPr>
            </a:br>
            <a:endParaRPr lang="fr-FR">
              <a:latin typeface="Rockwell"/>
              <a:ea typeface="+mn-lt"/>
              <a:cs typeface="+mn-lt"/>
            </a:endParaRPr>
          </a:p>
          <a:p>
            <a:r>
              <a:rPr lang="fr-FR" sz="2000">
                <a:latin typeface="Rockwell"/>
                <a:ea typeface="+mn-lt"/>
                <a:cs typeface="+mn-lt"/>
              </a:rPr>
              <a:t>Plus une valeur propre est grande, plus la variance capturée par le vecteur propre est importante. </a:t>
            </a:r>
          </a:p>
          <a:p>
            <a:endParaRPr lang="fr-FR" sz="2000">
              <a:latin typeface="Rockwell"/>
            </a:endParaRPr>
          </a:p>
          <a:p>
            <a:endParaRPr lang="fr-FR" sz="2000">
              <a:latin typeface="Rockwell"/>
            </a:endParaRPr>
          </a:p>
          <a:p>
            <a:endParaRPr lang="fr-FR" sz="2000">
              <a:latin typeface="Rockwell"/>
            </a:endParaRPr>
          </a:p>
        </p:txBody>
      </p:sp>
    </p:spTree>
    <p:extLst>
      <p:ext uri="{BB962C8B-B14F-4D97-AF65-F5344CB8AC3E}">
        <p14:creationId xmlns:p14="http://schemas.microsoft.com/office/powerpoint/2010/main" val="3172503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39CF-6823-80CC-A971-5631DAF50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088B8B7D-673E-3EE9-125F-349DEC7A02B0}"/>
              </a:ext>
            </a:extLst>
          </p:cNvPr>
          <p:cNvSpPr txBox="1"/>
          <p:nvPr/>
        </p:nvSpPr>
        <p:spPr>
          <a:xfrm>
            <a:off x="281956" y="250627"/>
            <a:ext cx="11763841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3200">
                <a:latin typeface="Rockwell"/>
                <a:cs typeface="Arial"/>
              </a:rPr>
              <a:t>C'est maintenant que l'intérêt de l'algorithme ACP entre en jeu</a:t>
            </a:r>
            <a:endParaRPr lang="en-US" sz="3200">
              <a:latin typeface="Rockwell"/>
              <a:cs typeface="Arial"/>
            </a:endParaRPr>
          </a:p>
          <a:p>
            <a:endParaRPr lang="fr-FR" sz="2000">
              <a:latin typeface="Rockwell"/>
              <a:cs typeface="Arial"/>
            </a:endParaRPr>
          </a:p>
          <a:p>
            <a:r>
              <a:rPr lang="fr-FR" sz="2000">
                <a:latin typeface="Rockwell"/>
                <a:ea typeface="+mn-lt"/>
                <a:cs typeface="+mn-lt"/>
              </a:rPr>
              <a:t>Les valeurs propres sont triées dans l'ordre décroissant.</a:t>
            </a:r>
            <a:br>
              <a:rPr lang="fr-FR" sz="2000">
                <a:latin typeface="Rockwell"/>
                <a:ea typeface="+mn-lt"/>
                <a:cs typeface="+mn-lt"/>
              </a:rPr>
            </a:br>
            <a:endParaRPr lang="fr-FR">
              <a:latin typeface="Rockwell"/>
              <a:ea typeface="+mn-lt"/>
              <a:cs typeface="+mn-lt"/>
            </a:endParaRPr>
          </a:p>
          <a:p>
            <a:r>
              <a:rPr lang="fr-FR" sz="2000">
                <a:latin typeface="Rockwell"/>
                <a:ea typeface="+mn-lt"/>
                <a:cs typeface="+mn-lt"/>
              </a:rPr>
              <a:t>Plus une valeur propre est grande, plus la variance capturée par le vecteur propre est importante. </a:t>
            </a:r>
            <a:br>
              <a:rPr lang="fr-FR" sz="2000">
                <a:latin typeface="Rockwell"/>
                <a:ea typeface="+mn-lt"/>
                <a:cs typeface="+mn-lt"/>
              </a:rPr>
            </a:br>
            <a:endParaRPr lang="fr-FR">
              <a:latin typeface="Rockwell"/>
              <a:ea typeface="+mn-lt"/>
              <a:cs typeface="+mn-lt"/>
            </a:endParaRPr>
          </a:p>
          <a:p>
            <a:r>
              <a:rPr lang="fr-FR" sz="2000">
                <a:latin typeface="Rockwell"/>
                <a:ea typeface="+mn-lt"/>
                <a:cs typeface="+mn-lt"/>
              </a:rPr>
              <a:t>On sélectionne les j vecteurs propres les plus significatifs : ce sont nos composantes principales</a:t>
            </a:r>
            <a:endParaRPr lang="fr-FR"/>
          </a:p>
          <a:p>
            <a:endParaRPr lang="fr-FR" sz="2000">
              <a:latin typeface="Rockwell"/>
            </a:endParaRPr>
          </a:p>
        </p:txBody>
      </p:sp>
      <p:pic>
        <p:nvPicPr>
          <p:cNvPr id="3" name="Picture 2" descr="A diagram of a puzzle&#10;&#10;AI-generated content may be incorrect.">
            <a:extLst>
              <a:ext uri="{FF2B5EF4-FFF2-40B4-BE49-F238E27FC236}">
                <a16:creationId xmlns:a16="http://schemas.microsoft.com/office/drawing/2014/main" id="{91E1A1E5-6D6F-5A7F-D57A-758FD13B2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3639488"/>
            <a:ext cx="2895600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296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9ADED721-FA87-3D99-2FE9-0C585DB130F5}"/>
              </a:ext>
            </a:extLst>
          </p:cNvPr>
          <p:cNvSpPr txBox="1"/>
          <p:nvPr/>
        </p:nvSpPr>
        <p:spPr>
          <a:xfrm>
            <a:off x="281956" y="219299"/>
            <a:ext cx="11716848" cy="37240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>
                <a:latin typeface="Rockwell"/>
              </a:rPr>
              <a:t>Choix de j :</a:t>
            </a:r>
          </a:p>
          <a:p>
            <a:r>
              <a:rPr lang="fr-FR" sz="2000">
                <a:latin typeface="Rockwell"/>
              </a:rPr>
              <a:t>On fixe un pourcentage de variance (95% en reconnaissance faciale).</a:t>
            </a:r>
          </a:p>
          <a:p>
            <a:endParaRPr lang="fr-FR" sz="2000">
              <a:latin typeface="Rockwell"/>
            </a:endParaRPr>
          </a:p>
          <a:p>
            <a:r>
              <a:rPr lang="fr-FR" sz="2000">
                <a:latin typeface="Rockwell"/>
              </a:rPr>
              <a:t>Calcul du ratio cumulé expliqué :</a:t>
            </a:r>
          </a:p>
          <a:p>
            <a:r>
              <a:rPr lang="fr-FR" sz="1600">
                <a:latin typeface="Rockwell"/>
              </a:rPr>
              <a:t>(N=nombre de vecteurs propres)</a:t>
            </a:r>
          </a:p>
          <a:p>
            <a:endParaRPr lang="fr-FR" sz="2000">
              <a:latin typeface="Rockwell"/>
            </a:endParaRPr>
          </a:p>
          <a:p>
            <a:endParaRPr lang="fr-FR" sz="2000">
              <a:latin typeface="Rockwell"/>
            </a:endParaRPr>
          </a:p>
          <a:p>
            <a:r>
              <a:rPr lang="fr-FR" sz="2000">
                <a:latin typeface="Rockwell"/>
              </a:rPr>
              <a:t>On choisit j pour atteindre 95%.</a:t>
            </a:r>
          </a:p>
          <a:p>
            <a:endParaRPr lang="fr-FR" sz="2000">
              <a:latin typeface="Rockwell"/>
            </a:endParaRPr>
          </a:p>
          <a:p>
            <a:r>
              <a:rPr lang="fr-FR" sz="2000">
                <a:latin typeface="Rockwell"/>
                <a:ea typeface="+mn-lt"/>
                <a:cs typeface="+mn-lt"/>
              </a:rPr>
              <a:t>A partir de là, on définit un espace vectoriel engendré par ces j vecteurs propres, que l’on appelle l’espace des visages 𝐸𝑣 (Face </a:t>
            </a:r>
            <a:r>
              <a:rPr lang="fr-FR" sz="2000" err="1">
                <a:latin typeface="Rockwell"/>
                <a:ea typeface="+mn-lt"/>
                <a:cs typeface="+mn-lt"/>
              </a:rPr>
              <a:t>Space</a:t>
            </a:r>
            <a:r>
              <a:rPr lang="fr-FR" sz="2000">
                <a:latin typeface="Rockwell"/>
                <a:ea typeface="+mn-lt"/>
                <a:cs typeface="+mn-lt"/>
              </a:rPr>
              <a:t>).</a:t>
            </a:r>
            <a:endParaRPr lang="fr-FR">
              <a:latin typeface="Rockwell"/>
            </a:endParaRPr>
          </a:p>
          <a:p>
            <a:endParaRPr lang="fr-FR" sz="2000">
              <a:latin typeface="Rockwel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30C8322-4D8F-EBB0-7AA4-2D2CB85BA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099" y="948266"/>
            <a:ext cx="4514850" cy="10668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BDE3DAD1-EC14-234C-BB5F-A74B910F5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577" y="3704015"/>
            <a:ext cx="3318178" cy="225606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43B0407A-D9D5-E16E-FAFA-988C3A4CB5A6}"/>
              </a:ext>
            </a:extLst>
          </p:cNvPr>
          <p:cNvSpPr txBox="1"/>
          <p:nvPr/>
        </p:nvSpPr>
        <p:spPr>
          <a:xfrm>
            <a:off x="4589621" y="6077724"/>
            <a:ext cx="22399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/>
              <a:t>        eigenfaces</a:t>
            </a:r>
          </a:p>
        </p:txBody>
      </p:sp>
    </p:spTree>
    <p:extLst>
      <p:ext uri="{BB962C8B-B14F-4D97-AF65-F5344CB8AC3E}">
        <p14:creationId xmlns:p14="http://schemas.microsoft.com/office/powerpoint/2010/main" val="14557845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B968F73A-8854-AB70-79FB-B2D399B4B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>
                <a:latin typeface="Rockwell"/>
              </a:rPr>
              <a:t>IV - </a:t>
            </a:r>
            <a:r>
              <a:rPr lang="en-US" sz="3600" b="1">
                <a:latin typeface="Rockwell"/>
                <a:cs typeface="Arial"/>
              </a:rPr>
              <a:t>Projection orthogonal et reconstruction des visages</a:t>
            </a:r>
            <a:endParaRPr lang="en-US" sz="3600" b="1">
              <a:latin typeface="Rockwell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4FEB6A1-26D9-7842-825D-885C01B35039}"/>
              </a:ext>
            </a:extLst>
          </p:cNvPr>
          <p:cNvSpPr txBox="1"/>
          <p:nvPr/>
        </p:nvSpPr>
        <p:spPr>
          <a:xfrm>
            <a:off x="156642" y="2344463"/>
            <a:ext cx="11873491" cy="49552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 b="1">
                <a:latin typeface="Rockwell"/>
                <a:cs typeface="Arial"/>
              </a:rPr>
              <a:t>Projection des images sur la base des Eigenfaces pour obtenir une représentation compacte</a:t>
            </a:r>
            <a:endParaRPr lang="fr-FR" sz="2000">
              <a:latin typeface="Rockwell"/>
              <a:cs typeface="Arial"/>
            </a:endParaRPr>
          </a:p>
          <a:p>
            <a:endParaRPr lang="fr-FR" sz="2000">
              <a:latin typeface="Rockwell"/>
              <a:ea typeface="+mn-lt"/>
              <a:cs typeface="+mn-lt"/>
            </a:endParaRPr>
          </a:p>
          <a:p>
            <a:r>
              <a:rPr lang="fr-FR" sz="2000">
                <a:latin typeface="Rockwell"/>
                <a:ea typeface="+mn-lt"/>
                <a:cs typeface="+mn-lt"/>
              </a:rPr>
              <a:t>Projection des images de départ sur 𝐸v. </a:t>
            </a:r>
          </a:p>
          <a:p>
            <a:endParaRPr lang="fr-FR" sz="2000">
              <a:latin typeface="Rockwell"/>
              <a:ea typeface="+mn-lt"/>
              <a:cs typeface="+mn-lt"/>
            </a:endParaRPr>
          </a:p>
          <a:p>
            <a:r>
              <a:rPr lang="fr-FR" sz="2400" b="1">
                <a:latin typeface="Rockwell"/>
                <a:ea typeface="+mn-lt"/>
                <a:cs typeface="+mn-lt"/>
              </a:rPr>
              <a:t>         </a:t>
            </a:r>
            <a:r>
              <a:rPr lang="fr-FR" sz="2400">
                <a:latin typeface="Rockwell"/>
                <a:ea typeface="+mn-lt"/>
                <a:cs typeface="+mn-lt"/>
              </a:rPr>
              <a:t>𝜔ₖ = 𝑒ₖᵀ (Mᵢ − μ), pour k = 1, ..., j</a:t>
            </a:r>
            <a:endParaRPr lang="fr-FR" sz="2400">
              <a:latin typeface="Rockwell"/>
            </a:endParaRPr>
          </a:p>
          <a:p>
            <a:r>
              <a:rPr lang="fr-FR" sz="2400" b="1">
                <a:latin typeface="Rockwell"/>
                <a:cs typeface="Arial"/>
              </a:rPr>
              <a:t>𝜔ₖ </a:t>
            </a:r>
            <a:r>
              <a:rPr lang="fr-FR" sz="2000">
                <a:latin typeface="Rockwell"/>
                <a:cs typeface="Arial"/>
              </a:rPr>
              <a:t> : vecteurs poids</a:t>
            </a:r>
          </a:p>
          <a:p>
            <a:endParaRPr lang="fr-FR" sz="2000">
              <a:latin typeface="Rockwell"/>
              <a:ea typeface="+mn-lt"/>
              <a:cs typeface="Arial"/>
            </a:endParaRPr>
          </a:p>
          <a:p>
            <a:r>
              <a:rPr lang="fr-FR" sz="2000" b="1">
                <a:latin typeface="Rockwell"/>
                <a:ea typeface="+mn-lt"/>
                <a:cs typeface="Arial"/>
              </a:rPr>
              <a:t>Interprétation en tant que projection orthogonale dans un sous-espace optimisé</a:t>
            </a:r>
            <a:endParaRPr lang="fr-FR" sz="2000">
              <a:latin typeface="Rockwell"/>
            </a:endParaRPr>
          </a:p>
          <a:p>
            <a:endParaRPr lang="fr-FR" sz="2000">
              <a:latin typeface="Rockwell"/>
              <a:ea typeface="+mn-lt"/>
              <a:cs typeface="Arial"/>
            </a:endParaRPr>
          </a:p>
          <a:p>
            <a:endParaRPr lang="fr-FR" sz="2000">
              <a:latin typeface="Rockwell"/>
              <a:ea typeface="+mn-lt"/>
              <a:cs typeface="Arial"/>
            </a:endParaRPr>
          </a:p>
          <a:p>
            <a:r>
              <a:rPr lang="fr-FR" sz="2000">
                <a:latin typeface="Rockwell"/>
                <a:ea typeface="+mn-lt"/>
                <a:cs typeface="Arial"/>
              </a:rPr>
              <a:t>Les vecteurs 𝜔ₖ forment la matrice :</a:t>
            </a:r>
            <a:endParaRPr lang="fr-FR" sz="2000"/>
          </a:p>
          <a:p>
            <a:endParaRPr lang="fr-FR" sz="2000">
              <a:latin typeface="Rockwell"/>
              <a:ea typeface="+mn-lt"/>
              <a:cs typeface="Arial"/>
            </a:endParaRPr>
          </a:p>
          <a:p>
            <a:r>
              <a:rPr lang="fr-FR" sz="2000">
                <a:latin typeface="Rockwell"/>
                <a:ea typeface="+mn-lt"/>
                <a:cs typeface="+mn-lt"/>
              </a:rPr>
              <a:t>                 </a:t>
            </a:r>
            <a:r>
              <a:rPr lang="fr-FR" sz="2400">
                <a:latin typeface="Rockwell"/>
                <a:ea typeface="+mn-lt"/>
                <a:cs typeface="+mn-lt"/>
              </a:rPr>
              <a:t>Ωᵀ = [𝜔₁, 𝜔₂, ..., 𝜔ⱼ]</a:t>
            </a:r>
          </a:p>
          <a:p>
            <a:endParaRPr lang="fr-FR" sz="2000">
              <a:latin typeface="Rockwell"/>
            </a:endParaRPr>
          </a:p>
          <a:p>
            <a:endParaRPr lang="fr-FR" sz="2400"/>
          </a:p>
        </p:txBody>
      </p:sp>
    </p:spTree>
    <p:extLst>
      <p:ext uri="{BB962C8B-B14F-4D97-AF65-F5344CB8AC3E}">
        <p14:creationId xmlns:p14="http://schemas.microsoft.com/office/powerpoint/2010/main" val="784703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A87A656-28D0-38C9-9CD8-6E9D3C609287}"/>
              </a:ext>
            </a:extLst>
          </p:cNvPr>
          <p:cNvSpPr txBox="1"/>
          <p:nvPr/>
        </p:nvSpPr>
        <p:spPr>
          <a:xfrm>
            <a:off x="140978" y="203634"/>
            <a:ext cx="11654191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400" b="1">
                <a:solidFill>
                  <a:srgbClr val="000000"/>
                </a:solidFill>
                <a:latin typeface="Rockwell"/>
                <a:cs typeface="Arial"/>
              </a:rPr>
              <a:t>Reconstruction des images par combinaison linéaire des Eigenfaces</a:t>
            </a:r>
            <a:endParaRPr lang="fr-FR" sz="2400"/>
          </a:p>
          <a:p>
            <a:endParaRPr lang="fr-FR" sz="2400" b="1">
              <a:latin typeface="Rockwell"/>
              <a:cs typeface="Arial"/>
            </a:endParaRPr>
          </a:p>
          <a:p>
            <a:r>
              <a:rPr lang="fr-FR" sz="2400">
                <a:latin typeface="Rockwell"/>
                <a:cs typeface="Arial"/>
              </a:rPr>
              <a:t>Représentation de l'image d'entrée (visage) à partir d'une combinaison linéaire des eigenfaces :</a:t>
            </a:r>
          </a:p>
          <a:p>
            <a:endParaRPr lang="fr-FR" sz="2000">
              <a:latin typeface="Rockwell"/>
              <a:cs typeface="Arial"/>
            </a:endParaRPr>
          </a:p>
          <a:p>
            <a:endParaRPr lang="fr-FR" sz="2000">
              <a:latin typeface="Rockwell"/>
              <a:cs typeface="Arial"/>
            </a:endParaRPr>
          </a:p>
          <a:p>
            <a:endParaRPr lang="fr-FR" sz="2000">
              <a:latin typeface="Rockwell"/>
              <a:cs typeface="Arial"/>
            </a:endParaRPr>
          </a:p>
          <a:p>
            <a:endParaRPr lang="fr-FR" sz="2000">
              <a:latin typeface="Rockwell"/>
              <a:cs typeface="Arial"/>
            </a:endParaRPr>
          </a:p>
          <a:p>
            <a:endParaRPr lang="fr-FR" sz="2000">
              <a:latin typeface="Rockwell"/>
              <a:cs typeface="Arial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51E9DD5-C495-363D-574E-601AD5054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395" y="2315021"/>
            <a:ext cx="4625235" cy="2222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1645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F8E3048-94A6-AEB9-E3D0-F8EE1A2AEE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4203871" cy="3628761"/>
          </a:xfrm>
        </p:spPr>
        <p:txBody>
          <a:bodyPr/>
          <a:lstStyle/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3A1EB941-A0E7-591C-8AB2-35320CB6B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0996" y="317814"/>
            <a:ext cx="11197726" cy="1700784"/>
          </a:xfrm>
        </p:spPr>
        <p:txBody>
          <a:bodyPr/>
          <a:lstStyle/>
          <a:p>
            <a:r>
              <a:rPr lang="en-US" sz="3600" b="1">
                <a:latin typeface="Rockwell"/>
              </a:rPr>
              <a:t>V - </a:t>
            </a:r>
            <a:r>
              <a:rPr lang="en-US" sz="3600" b="1" err="1">
                <a:latin typeface="Rockwell"/>
                <a:cs typeface="Arial"/>
              </a:rPr>
              <a:t>Critères</a:t>
            </a:r>
            <a:r>
              <a:rPr lang="en-US" sz="3600" b="1">
                <a:latin typeface="Rockwell"/>
                <a:cs typeface="Arial"/>
              </a:rPr>
              <a:t> de </a:t>
            </a:r>
            <a:r>
              <a:rPr lang="en-US" sz="3600" b="1" err="1">
                <a:latin typeface="Rockwell"/>
                <a:cs typeface="Arial"/>
              </a:rPr>
              <a:t>Similarité</a:t>
            </a:r>
            <a:r>
              <a:rPr lang="en-US" sz="3600" b="1">
                <a:latin typeface="Rockwell"/>
                <a:cs typeface="Arial"/>
              </a:rPr>
              <a:t> et Classification</a:t>
            </a:r>
            <a:endParaRPr lang="en-US" sz="3600" b="1">
              <a:latin typeface="Rockwel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32D1764-FB98-B163-4194-07D54DDC48D2}"/>
              </a:ext>
            </a:extLst>
          </p:cNvPr>
          <p:cNvSpPr txBox="1"/>
          <p:nvPr/>
        </p:nvSpPr>
        <p:spPr>
          <a:xfrm>
            <a:off x="250627" y="2443620"/>
            <a:ext cx="11763841" cy="32316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400">
                <a:latin typeface="Rockwell"/>
              </a:rPr>
              <a:t>Objectif : trouver la classe de visage 𝑘 qui minimise la distance Euclidienne</a:t>
            </a:r>
          </a:p>
          <a:p>
            <a:endParaRPr lang="fr-FR" sz="2800">
              <a:solidFill>
                <a:srgbClr val="000000"/>
              </a:solidFill>
              <a:latin typeface="Rockwell"/>
            </a:endParaRPr>
          </a:p>
          <a:p>
            <a:r>
              <a:rPr lang="fr-FR" sz="2400">
                <a:latin typeface="Rockwell"/>
              </a:rPr>
              <a:t>               εₖ² = ‖Ω − Ωₖ‖²</a:t>
            </a:r>
          </a:p>
          <a:p>
            <a:r>
              <a:rPr lang="fr-FR" sz="2400">
                <a:latin typeface="Rockwell"/>
              </a:rPr>
              <a:t>Ωₖ : k-</a:t>
            </a:r>
            <a:r>
              <a:rPr lang="fr-FR" sz="2400" err="1">
                <a:latin typeface="Rockwell"/>
              </a:rPr>
              <a:t>ième</a:t>
            </a:r>
            <a:r>
              <a:rPr lang="fr-FR" sz="2400">
                <a:latin typeface="Rockwell"/>
              </a:rPr>
              <a:t> classe de visage.</a:t>
            </a:r>
          </a:p>
          <a:p>
            <a:endParaRPr lang="fr-FR" sz="2800">
              <a:solidFill>
                <a:srgbClr val="000000"/>
              </a:solidFill>
              <a:latin typeface="Rockwell"/>
            </a:endParaRPr>
          </a:p>
          <a:p>
            <a:endParaRPr lang="fr-FR" sz="2800">
              <a:solidFill>
                <a:srgbClr val="000000"/>
              </a:solidFill>
              <a:latin typeface="Rockwell"/>
            </a:endParaRPr>
          </a:p>
          <a:p>
            <a:r>
              <a:rPr lang="fr-FR" sz="2400">
                <a:latin typeface="Rockwell"/>
              </a:rPr>
              <a:t>εₖ&lt;= 𝜃 : visage reconnu</a:t>
            </a:r>
          </a:p>
          <a:p>
            <a:r>
              <a:rPr lang="fr-FR" sz="2400">
                <a:latin typeface="Rockwell"/>
              </a:rPr>
              <a:t>εₖ&gt;= 𝜃 : visage non reconnu</a:t>
            </a:r>
          </a:p>
        </p:txBody>
      </p:sp>
    </p:spTree>
    <p:extLst>
      <p:ext uri="{BB962C8B-B14F-4D97-AF65-F5344CB8AC3E}">
        <p14:creationId xmlns:p14="http://schemas.microsoft.com/office/powerpoint/2010/main" val="21797972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1E96417B-1950-4A64-7A8E-073FFB97DD48}"/>
              </a:ext>
            </a:extLst>
          </p:cNvPr>
          <p:cNvSpPr txBox="1"/>
          <p:nvPr/>
        </p:nvSpPr>
        <p:spPr>
          <a:xfrm>
            <a:off x="281956" y="297620"/>
            <a:ext cx="11575870" cy="59400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>
                <a:latin typeface="Rockwell"/>
              </a:rPr>
              <a:t>Ainsi, nous avons 4 possibilités pour une image d'entrée (visage) d'être reconnu ou non :</a:t>
            </a:r>
          </a:p>
          <a:p>
            <a:endParaRPr lang="fr-FR" sz="2000">
              <a:latin typeface="Rockwell"/>
            </a:endParaRPr>
          </a:p>
          <a:p>
            <a:endParaRPr lang="fr-FR" sz="2000">
              <a:latin typeface="Rockwell"/>
            </a:endParaRPr>
          </a:p>
          <a:p>
            <a:endParaRPr lang="fr-FR" sz="2000">
              <a:latin typeface="Rockwell"/>
            </a:endParaRPr>
          </a:p>
          <a:p>
            <a:endParaRPr lang="fr-FR" sz="2000">
              <a:latin typeface="Rockwell"/>
            </a:endParaRPr>
          </a:p>
          <a:p>
            <a:endParaRPr lang="fr-FR" sz="2000">
              <a:latin typeface="Rockwell"/>
            </a:endParaRPr>
          </a:p>
          <a:p>
            <a:endParaRPr lang="fr-FR" sz="2000">
              <a:latin typeface="Rockwell"/>
            </a:endParaRPr>
          </a:p>
          <a:p>
            <a:endParaRPr lang="fr-FR" sz="2000">
              <a:latin typeface="Rockwell"/>
            </a:endParaRPr>
          </a:p>
          <a:p>
            <a:endParaRPr lang="fr-FR" sz="2000">
              <a:latin typeface="Rockwell"/>
            </a:endParaRPr>
          </a:p>
          <a:p>
            <a:endParaRPr lang="fr-FR" sz="2000">
              <a:latin typeface="Rockwell"/>
            </a:endParaRPr>
          </a:p>
          <a:p>
            <a:endParaRPr lang="fr-FR" sz="2000">
              <a:latin typeface="Rockwell"/>
            </a:endParaRPr>
          </a:p>
          <a:p>
            <a:endParaRPr lang="fr-FR" sz="2000">
              <a:latin typeface="Rockwell"/>
            </a:endParaRPr>
          </a:p>
          <a:p>
            <a:endParaRPr lang="fr-FR" sz="2000">
              <a:latin typeface="Rockwell"/>
            </a:endParaRPr>
          </a:p>
          <a:p>
            <a:r>
              <a:rPr lang="fr-FR" sz="2000">
                <a:latin typeface="Rockwell"/>
                <a:ea typeface="+mn-lt"/>
                <a:cs typeface="+mn-lt"/>
              </a:rPr>
              <a:t>Cas 1 : un individu est reconnu et identifié. </a:t>
            </a:r>
          </a:p>
          <a:p>
            <a:endParaRPr lang="fr-FR" sz="2000">
              <a:latin typeface="Rockwell"/>
              <a:ea typeface="+mn-lt"/>
              <a:cs typeface="+mn-lt"/>
            </a:endParaRPr>
          </a:p>
          <a:p>
            <a:r>
              <a:rPr lang="fr-FR" sz="2000">
                <a:latin typeface="Rockwell"/>
                <a:ea typeface="+mn-lt"/>
                <a:cs typeface="+mn-lt"/>
              </a:rPr>
              <a:t>Cas 2 : un individu inconnu du système est présent. </a:t>
            </a:r>
          </a:p>
          <a:p>
            <a:endParaRPr lang="fr-FR" sz="2000">
              <a:latin typeface="Rockwell"/>
              <a:ea typeface="+mn-lt"/>
              <a:cs typeface="+mn-lt"/>
            </a:endParaRPr>
          </a:p>
          <a:p>
            <a:r>
              <a:rPr lang="fr-FR" sz="2000">
                <a:latin typeface="Rockwell"/>
                <a:ea typeface="+mn-lt"/>
                <a:cs typeface="+mn-lt"/>
              </a:rPr>
              <a:t>Cas 3 et 4 : indiquent que l’image n’est pas une image de visage.</a:t>
            </a:r>
            <a:endParaRPr lang="fr-FR">
              <a:latin typeface="Rockwell"/>
            </a:endParaRPr>
          </a:p>
          <a:p>
            <a:endParaRPr lang="fr-FR" sz="2000">
              <a:latin typeface="Rockwell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FE9BA49-AF67-48C9-FBDD-14D24CB7E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823" y="760262"/>
            <a:ext cx="7419975" cy="2676525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79070ED9-F15F-AB64-9812-4CA31FBD3FD7}"/>
              </a:ext>
            </a:extLst>
          </p:cNvPr>
          <p:cNvSpPr txBox="1"/>
          <p:nvPr/>
        </p:nvSpPr>
        <p:spPr>
          <a:xfrm>
            <a:off x="2741535" y="3576658"/>
            <a:ext cx="670346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600">
                <a:latin typeface="Rockwell"/>
                <a:ea typeface="+mn-lt"/>
                <a:cs typeface="+mn-lt"/>
              </a:rPr>
              <a:t>Illustration des cas possibles de classification d’une image. </a:t>
            </a:r>
            <a:endParaRPr lang="fr-FR" sz="1600">
              <a:latin typeface="Rockwell"/>
            </a:endParaRPr>
          </a:p>
        </p:txBody>
      </p:sp>
    </p:spTree>
    <p:extLst>
      <p:ext uri="{BB962C8B-B14F-4D97-AF65-F5344CB8AC3E}">
        <p14:creationId xmlns:p14="http://schemas.microsoft.com/office/powerpoint/2010/main" val="1223706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D61C9718-FB02-180E-C7B4-9470AE7BAA0F}"/>
              </a:ext>
            </a:extLst>
          </p:cNvPr>
          <p:cNvSpPr txBox="1"/>
          <p:nvPr/>
        </p:nvSpPr>
        <p:spPr>
          <a:xfrm>
            <a:off x="172306" y="203634"/>
            <a:ext cx="11826498" cy="68634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400" b="1">
                <a:latin typeface="Rockwell"/>
                <a:cs typeface="Arial"/>
              </a:rPr>
              <a:t>Mesures de distance adaptées (Euclidienne, </a:t>
            </a:r>
            <a:r>
              <a:rPr lang="fr-FR" sz="2400" b="1" err="1">
                <a:latin typeface="Rockwell"/>
                <a:cs typeface="Arial"/>
              </a:rPr>
              <a:t>Mahalanobis</a:t>
            </a:r>
            <a:r>
              <a:rPr lang="fr-FR" sz="2400" b="1">
                <a:latin typeface="Rockwell"/>
                <a:cs typeface="Arial"/>
              </a:rPr>
              <a:t>, Cosinus)</a:t>
            </a:r>
            <a:endParaRPr lang="fr-FR" sz="2400">
              <a:latin typeface="Rockwell"/>
              <a:cs typeface="Arial"/>
            </a:endParaRPr>
          </a:p>
          <a:p>
            <a:endParaRPr lang="fr-FR" sz="2400">
              <a:latin typeface="Rockwell"/>
              <a:cs typeface="Arial"/>
            </a:endParaRPr>
          </a:p>
          <a:p>
            <a:r>
              <a:rPr lang="fr-FR" sz="2400">
                <a:solidFill>
                  <a:srgbClr val="404040"/>
                </a:solidFill>
                <a:latin typeface="Rockwell"/>
                <a:ea typeface="+mn-lt"/>
                <a:cs typeface="+mn-lt"/>
              </a:rPr>
              <a:t>Trois mesures de distance sont couramment utilisées :</a:t>
            </a:r>
            <a:endParaRPr lang="fr-FR" sz="2400">
              <a:latin typeface="Rockwell"/>
            </a:endParaRPr>
          </a:p>
          <a:p>
            <a:endParaRPr lang="fr-FR" sz="2400">
              <a:solidFill>
                <a:srgbClr val="404040"/>
              </a:solidFill>
              <a:latin typeface="Rockwell"/>
              <a:cs typeface="Arial"/>
            </a:endParaRPr>
          </a:p>
          <a:p>
            <a:r>
              <a:rPr lang="fr-FR" sz="2400">
                <a:solidFill>
                  <a:srgbClr val="404040"/>
                </a:solidFill>
                <a:latin typeface="Rockwell"/>
                <a:cs typeface="Arial"/>
              </a:rPr>
              <a:t>1)</a:t>
            </a:r>
            <a:r>
              <a:rPr lang="fr-FR" sz="2400" u="sng">
                <a:solidFill>
                  <a:srgbClr val="404040"/>
                </a:solidFill>
                <a:latin typeface="Rockwell"/>
                <a:cs typeface="Arial"/>
              </a:rPr>
              <a:t>La distance Euclidienne</a:t>
            </a:r>
            <a:r>
              <a:rPr lang="fr-FR" sz="2400">
                <a:solidFill>
                  <a:srgbClr val="404040"/>
                </a:solidFill>
                <a:latin typeface="Rockwell"/>
                <a:cs typeface="Arial"/>
              </a:rPr>
              <a:t> :</a:t>
            </a:r>
          </a:p>
          <a:p>
            <a:endParaRPr lang="fr-FR" sz="2400">
              <a:solidFill>
                <a:srgbClr val="404040"/>
              </a:solidFill>
              <a:latin typeface="Rockwell"/>
              <a:cs typeface="Arial"/>
            </a:endParaRPr>
          </a:p>
          <a:p>
            <a:endParaRPr lang="fr-FR" sz="2400">
              <a:solidFill>
                <a:srgbClr val="404040"/>
              </a:solidFill>
              <a:latin typeface="Rockwell"/>
              <a:cs typeface="Arial"/>
            </a:endParaRPr>
          </a:p>
          <a:p>
            <a:endParaRPr lang="fr-FR" sz="2400">
              <a:solidFill>
                <a:srgbClr val="404040"/>
              </a:solidFill>
              <a:latin typeface="Rockwell"/>
              <a:cs typeface="Arial"/>
            </a:endParaRPr>
          </a:p>
          <a:p>
            <a:endParaRPr lang="fr-FR" sz="2400">
              <a:solidFill>
                <a:srgbClr val="404040"/>
              </a:solidFill>
              <a:latin typeface="Rockwell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fr-FR" sz="2400" b="1">
              <a:solidFill>
                <a:srgbClr val="404040"/>
              </a:solidFill>
              <a:latin typeface="Rockwell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fr-FR" sz="2400" b="1">
              <a:solidFill>
                <a:srgbClr val="404040"/>
              </a:solidFill>
              <a:latin typeface="Rockwell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fr-FR" sz="2400" b="1">
              <a:solidFill>
                <a:srgbClr val="404040"/>
              </a:solidFill>
              <a:latin typeface="Rockwell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fr-FR" sz="2400" b="1">
                <a:solidFill>
                  <a:srgbClr val="404040"/>
                </a:solidFill>
                <a:latin typeface="Rockwell"/>
                <a:ea typeface="+mn-lt"/>
                <a:cs typeface="+mn-lt"/>
              </a:rPr>
              <a:t>Avantage</a:t>
            </a:r>
            <a:r>
              <a:rPr lang="fr-FR" sz="2400">
                <a:solidFill>
                  <a:srgbClr val="404040"/>
                </a:solidFill>
                <a:latin typeface="Rockwell"/>
                <a:ea typeface="+mn-lt"/>
                <a:cs typeface="+mn-lt"/>
              </a:rPr>
              <a:t> : Simple et intuitive.</a:t>
            </a:r>
            <a:endParaRPr lang="fr-FR" sz="2400">
              <a:latin typeface="Rockwell"/>
            </a:endParaRPr>
          </a:p>
          <a:p>
            <a:pPr marL="285750" indent="-285750">
              <a:buFont typeface="Arial"/>
              <a:buChar char="•"/>
            </a:pPr>
            <a:r>
              <a:rPr lang="fr-FR" sz="2400" b="1">
                <a:solidFill>
                  <a:srgbClr val="404040"/>
                </a:solidFill>
                <a:latin typeface="Rockwell"/>
                <a:ea typeface="+mn-lt"/>
                <a:cs typeface="+mn-lt"/>
              </a:rPr>
              <a:t>Limite</a:t>
            </a:r>
            <a:r>
              <a:rPr lang="fr-FR" sz="2400">
                <a:solidFill>
                  <a:srgbClr val="404040"/>
                </a:solidFill>
                <a:latin typeface="Rockwell"/>
                <a:ea typeface="+mn-lt"/>
                <a:cs typeface="+mn-lt"/>
              </a:rPr>
              <a:t> : Sensible aux échelles différentes des axes (suppose que toutes les Eigenfaces contribuent également).</a:t>
            </a:r>
            <a:endParaRPr lang="fr-FR" sz="2400">
              <a:latin typeface="Rockwell"/>
            </a:endParaRPr>
          </a:p>
          <a:p>
            <a:endParaRPr lang="fr-FR" sz="2000">
              <a:solidFill>
                <a:srgbClr val="404040"/>
              </a:solidFill>
              <a:latin typeface="Rockwell"/>
              <a:cs typeface="Arial"/>
            </a:endParaRPr>
          </a:p>
          <a:p>
            <a:endParaRPr lang="fr-FR" sz="2000">
              <a:solidFill>
                <a:srgbClr val="404040"/>
              </a:solidFill>
              <a:latin typeface="Rockwell"/>
              <a:cs typeface="Arial"/>
            </a:endParaRPr>
          </a:p>
          <a:p>
            <a:endParaRPr lang="fr-FR" sz="2000" b="1">
              <a:solidFill>
                <a:srgbClr val="000000"/>
              </a:solidFill>
              <a:latin typeface="Rockwell"/>
              <a:cs typeface="Arial"/>
            </a:endParaRPr>
          </a:p>
          <a:p>
            <a:endParaRPr lang="fr-FR" sz="2000" b="1">
              <a:solidFill>
                <a:srgbClr val="000000"/>
              </a:solidFill>
              <a:latin typeface="Rockwell"/>
              <a:cs typeface="Arial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68AE51E-B110-1CB6-0DEE-6DB3A0BFE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734" y="2436639"/>
            <a:ext cx="4717876" cy="155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1056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2667FB72-B989-E790-78F2-41ACFD9F9D4B}"/>
              </a:ext>
            </a:extLst>
          </p:cNvPr>
          <p:cNvSpPr txBox="1"/>
          <p:nvPr/>
        </p:nvSpPr>
        <p:spPr>
          <a:xfrm>
            <a:off x="281956" y="313284"/>
            <a:ext cx="11716848" cy="68634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>
                <a:solidFill>
                  <a:srgbClr val="404040"/>
                </a:solidFill>
                <a:latin typeface="Rockwell"/>
              </a:rPr>
              <a:t>2)</a:t>
            </a:r>
            <a:r>
              <a:rPr lang="fr-FR" sz="2000" u="sng">
                <a:solidFill>
                  <a:srgbClr val="404040"/>
                </a:solidFill>
                <a:latin typeface="Rockwell"/>
              </a:rPr>
              <a:t>La distance de </a:t>
            </a:r>
            <a:r>
              <a:rPr lang="fr-FR" sz="2000" u="sng" err="1">
                <a:solidFill>
                  <a:srgbClr val="404040"/>
                </a:solidFill>
                <a:latin typeface="Rockwell"/>
              </a:rPr>
              <a:t>Mahalanobis</a:t>
            </a:r>
            <a:r>
              <a:rPr lang="fr-FR" sz="2000">
                <a:solidFill>
                  <a:srgbClr val="404040"/>
                </a:solidFill>
                <a:latin typeface="Rockwell"/>
              </a:rPr>
              <a:t>:</a:t>
            </a:r>
            <a:endParaRPr lang="fr-FR" sz="2000" err="1">
              <a:latin typeface="Rockwell"/>
            </a:endParaRPr>
          </a:p>
          <a:p>
            <a:endParaRPr lang="fr-FR" sz="2000">
              <a:solidFill>
                <a:srgbClr val="404040"/>
              </a:solidFill>
              <a:latin typeface="Rockwell"/>
            </a:endParaRPr>
          </a:p>
          <a:p>
            <a:endParaRPr lang="fr-FR" sz="2000">
              <a:solidFill>
                <a:srgbClr val="404040"/>
              </a:solidFill>
              <a:latin typeface="Rockwell"/>
            </a:endParaRPr>
          </a:p>
          <a:p>
            <a:endParaRPr lang="fr-FR" sz="2000">
              <a:solidFill>
                <a:srgbClr val="404040"/>
              </a:solidFill>
              <a:latin typeface="Rockwell"/>
            </a:endParaRPr>
          </a:p>
          <a:p>
            <a:endParaRPr lang="fr-FR" sz="2000">
              <a:solidFill>
                <a:srgbClr val="404040"/>
              </a:solidFill>
              <a:latin typeface="Rockwell"/>
            </a:endParaRPr>
          </a:p>
          <a:p>
            <a:r>
              <a:rPr lang="fr-FR" sz="2000">
                <a:solidFill>
                  <a:srgbClr val="404040"/>
                </a:solidFill>
                <a:latin typeface="Rockwell"/>
                <a:ea typeface="+mn-lt"/>
                <a:cs typeface="+mn-lt"/>
              </a:rPr>
              <a:t>S : matrice de covariance des poids dans </a:t>
            </a:r>
            <a:r>
              <a:rPr lang="fr-FR" sz="2000" err="1">
                <a:solidFill>
                  <a:srgbClr val="404040"/>
                </a:solidFill>
                <a:latin typeface="Rockwell"/>
                <a:ea typeface="+mn-lt"/>
                <a:cs typeface="+mn-lt"/>
              </a:rPr>
              <a:t>Ev</a:t>
            </a:r>
            <a:endParaRPr lang="fr-FR" sz="2000" err="1">
              <a:latin typeface="Rockwell"/>
            </a:endParaRPr>
          </a:p>
          <a:p>
            <a:endParaRPr lang="fr-FR" sz="2000">
              <a:solidFill>
                <a:srgbClr val="404040"/>
              </a:solidFill>
              <a:latin typeface="Rockwell"/>
            </a:endParaRPr>
          </a:p>
          <a:p>
            <a:pPr marL="285750" indent="-285750">
              <a:buFont typeface="Arial"/>
              <a:buChar char="•"/>
            </a:pPr>
            <a:r>
              <a:rPr lang="fr-FR" sz="2000" b="1">
                <a:solidFill>
                  <a:srgbClr val="404040"/>
                </a:solidFill>
                <a:latin typeface="Rockwell"/>
                <a:ea typeface="+mn-lt"/>
                <a:cs typeface="+mn-lt"/>
              </a:rPr>
              <a:t>Avantage</a:t>
            </a:r>
            <a:r>
              <a:rPr lang="fr-FR" sz="2000">
                <a:solidFill>
                  <a:srgbClr val="404040"/>
                </a:solidFill>
                <a:latin typeface="Rockwell"/>
                <a:ea typeface="+mn-lt"/>
                <a:cs typeface="+mn-lt"/>
              </a:rPr>
              <a:t> : Robustesse aux directions de faible variance.</a:t>
            </a:r>
            <a:endParaRPr lang="fr-FR" sz="2000">
              <a:latin typeface="Rockwell"/>
            </a:endParaRPr>
          </a:p>
          <a:p>
            <a:pPr marL="285750" indent="-285750">
              <a:buFont typeface="Arial"/>
              <a:buChar char="•"/>
            </a:pPr>
            <a:r>
              <a:rPr lang="fr-FR" sz="2000" b="1">
                <a:solidFill>
                  <a:srgbClr val="404040"/>
                </a:solidFill>
                <a:latin typeface="Rockwell"/>
                <a:ea typeface="+mn-lt"/>
                <a:cs typeface="+mn-lt"/>
              </a:rPr>
              <a:t>Limite</a:t>
            </a:r>
            <a:r>
              <a:rPr lang="fr-FR" sz="2000">
                <a:solidFill>
                  <a:srgbClr val="404040"/>
                </a:solidFill>
                <a:latin typeface="Rockwell"/>
                <a:ea typeface="+mn-lt"/>
                <a:cs typeface="+mn-lt"/>
              </a:rPr>
              <a:t> : Calcul coûteux si j est grand (inversion de matrice S).</a:t>
            </a:r>
            <a:endParaRPr lang="fr-FR" sz="2000">
              <a:latin typeface="Rockwell"/>
            </a:endParaRPr>
          </a:p>
          <a:p>
            <a:endParaRPr lang="fr-FR" sz="2000">
              <a:solidFill>
                <a:srgbClr val="404040"/>
              </a:solidFill>
              <a:latin typeface="Rockwell"/>
            </a:endParaRPr>
          </a:p>
          <a:p>
            <a:endParaRPr lang="fr-FR" sz="2000">
              <a:solidFill>
                <a:srgbClr val="000000"/>
              </a:solidFill>
              <a:latin typeface="Rockwell"/>
            </a:endParaRPr>
          </a:p>
          <a:p>
            <a:r>
              <a:rPr lang="fr-FR" sz="2000">
                <a:solidFill>
                  <a:srgbClr val="404040"/>
                </a:solidFill>
                <a:latin typeface="Rockwell"/>
              </a:rPr>
              <a:t>3)</a:t>
            </a:r>
            <a:r>
              <a:rPr lang="fr-FR" sz="2000" u="sng">
                <a:solidFill>
                  <a:srgbClr val="404040"/>
                </a:solidFill>
                <a:latin typeface="Rockwell"/>
              </a:rPr>
              <a:t>La similarité cosinus</a:t>
            </a:r>
            <a:r>
              <a:rPr lang="fr-FR" sz="2000">
                <a:solidFill>
                  <a:srgbClr val="404040"/>
                </a:solidFill>
                <a:latin typeface="Rockwell"/>
              </a:rPr>
              <a:t> :</a:t>
            </a:r>
            <a:endParaRPr lang="fr-FR">
              <a:solidFill>
                <a:srgbClr val="000000"/>
              </a:solidFill>
              <a:latin typeface="Franklin Gothic Medium" panose="020B0603020102020204"/>
            </a:endParaRPr>
          </a:p>
          <a:p>
            <a:endParaRPr lang="fr-FR" sz="2000">
              <a:solidFill>
                <a:srgbClr val="404040"/>
              </a:solidFill>
              <a:latin typeface="Rockwell"/>
            </a:endParaRPr>
          </a:p>
          <a:p>
            <a:endParaRPr lang="fr-FR" sz="2000">
              <a:solidFill>
                <a:srgbClr val="404040"/>
              </a:solidFill>
              <a:latin typeface="Rockwell"/>
            </a:endParaRPr>
          </a:p>
          <a:p>
            <a:endParaRPr lang="fr-FR" sz="2000">
              <a:solidFill>
                <a:srgbClr val="404040"/>
              </a:solidFill>
              <a:latin typeface="Rockwell"/>
            </a:endParaRPr>
          </a:p>
          <a:p>
            <a:endParaRPr lang="fr-FR" sz="2000">
              <a:solidFill>
                <a:srgbClr val="404040"/>
              </a:solidFill>
              <a:latin typeface="Rockwell"/>
            </a:endParaRPr>
          </a:p>
          <a:p>
            <a:endParaRPr lang="fr-FR" sz="2000">
              <a:solidFill>
                <a:srgbClr val="404040"/>
              </a:solidFill>
              <a:latin typeface="Rockwell"/>
            </a:endParaRPr>
          </a:p>
          <a:p>
            <a:pPr marL="285750" indent="-285750">
              <a:buFont typeface="Arial"/>
              <a:buChar char="•"/>
            </a:pPr>
            <a:endParaRPr lang="fr-FR" sz="2000" b="1">
              <a:solidFill>
                <a:srgbClr val="404040"/>
              </a:solidFill>
              <a:latin typeface="Rockwell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fr-FR" sz="2000" b="1">
              <a:solidFill>
                <a:srgbClr val="404040"/>
              </a:solidFill>
              <a:latin typeface="Rockwell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fr-FR" sz="2000" b="1">
                <a:solidFill>
                  <a:srgbClr val="404040"/>
                </a:solidFill>
                <a:latin typeface="Rockwell"/>
                <a:ea typeface="+mn-lt"/>
                <a:cs typeface="+mn-lt"/>
              </a:rPr>
              <a:t>Avantage</a:t>
            </a:r>
            <a:r>
              <a:rPr lang="fr-FR" sz="2000">
                <a:solidFill>
                  <a:srgbClr val="404040"/>
                </a:solidFill>
                <a:latin typeface="Rockwell"/>
                <a:ea typeface="+mn-lt"/>
                <a:cs typeface="+mn-lt"/>
              </a:rPr>
              <a:t> : Insensible aux différences de luminosité ou de contraste.</a:t>
            </a:r>
            <a:endParaRPr lang="fr-FR" sz="2000">
              <a:latin typeface="Rockwell"/>
            </a:endParaRPr>
          </a:p>
          <a:p>
            <a:pPr marL="285750" indent="-285750">
              <a:buFont typeface="Arial"/>
              <a:buChar char="•"/>
            </a:pPr>
            <a:r>
              <a:rPr lang="fr-FR" sz="2000" b="1">
                <a:solidFill>
                  <a:srgbClr val="404040"/>
                </a:solidFill>
                <a:latin typeface="Rockwell"/>
                <a:ea typeface="+mn-lt"/>
                <a:cs typeface="+mn-lt"/>
              </a:rPr>
              <a:t>Limite</a:t>
            </a:r>
            <a:r>
              <a:rPr lang="fr-FR" sz="2000">
                <a:solidFill>
                  <a:srgbClr val="404040"/>
                </a:solidFill>
                <a:latin typeface="Rockwell"/>
                <a:ea typeface="+mn-lt"/>
                <a:cs typeface="+mn-lt"/>
              </a:rPr>
              <a:t> : Ignore la magnitude.</a:t>
            </a:r>
            <a:endParaRPr lang="fr-FR" sz="2000">
              <a:latin typeface="Rockwell"/>
            </a:endParaRPr>
          </a:p>
          <a:p>
            <a:endParaRPr lang="fr-FR" sz="2000">
              <a:solidFill>
                <a:srgbClr val="404040"/>
              </a:solidFill>
              <a:latin typeface="Rockwel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81D5763-E0BA-51DF-B014-A71A9184B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977" y="876105"/>
            <a:ext cx="6860348" cy="836503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8387F4E2-3C71-6CF0-CA50-AAEC15224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166" y="4231906"/>
            <a:ext cx="7196463" cy="1254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6510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C8D84-0784-868E-CBA8-F94839D74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12AFC31-3378-2030-6EF3-81F3D0C2C4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4203871" cy="3628761"/>
          </a:xfrm>
        </p:spPr>
        <p:txBody>
          <a:bodyPr/>
          <a:lstStyle/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31D8029D-33DA-E655-3FF8-35212F3FD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0996" y="317814"/>
            <a:ext cx="11197726" cy="1700784"/>
          </a:xfrm>
        </p:spPr>
        <p:txBody>
          <a:bodyPr/>
          <a:lstStyle/>
          <a:p>
            <a:r>
              <a:rPr lang="en-US" sz="3600" b="1">
                <a:latin typeface="Rockwell"/>
              </a:rPr>
              <a:t>VI - </a:t>
            </a:r>
            <a:r>
              <a:rPr lang="en-US" sz="3600" b="1">
                <a:latin typeface="Rockwell"/>
                <a:ea typeface="+mj-lt"/>
                <a:cs typeface="+mj-lt"/>
              </a:rPr>
              <a:t>Nouvelles </a:t>
            </a:r>
            <a:r>
              <a:rPr lang="en-US" sz="3600" b="1" err="1">
                <a:latin typeface="Rockwell"/>
                <a:ea typeface="+mj-lt"/>
                <a:cs typeface="+mj-lt"/>
              </a:rPr>
              <a:t>approches</a:t>
            </a:r>
            <a:r>
              <a:rPr lang="en-US" sz="3600" b="1">
                <a:latin typeface="Rockwell"/>
                <a:ea typeface="+mj-lt"/>
                <a:cs typeface="+mj-lt"/>
              </a:rPr>
              <a:t> pour la reconnaissance </a:t>
            </a:r>
            <a:r>
              <a:rPr lang="en-US" sz="3600" b="1" err="1">
                <a:latin typeface="Rockwell"/>
                <a:ea typeface="+mj-lt"/>
                <a:cs typeface="+mj-lt"/>
              </a:rPr>
              <a:t>faciale</a:t>
            </a:r>
            <a:r>
              <a:rPr lang="en-US" sz="3600" b="1">
                <a:latin typeface="Rockwell"/>
                <a:ea typeface="+mj-lt"/>
                <a:cs typeface="+mj-lt"/>
              </a:rPr>
              <a:t>.</a:t>
            </a:r>
            <a:endParaRPr lang="en-US" sz="3600" b="1">
              <a:latin typeface="Rockwel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4A312CE-1981-6A1D-D636-A8AF93C9EB83}"/>
              </a:ext>
            </a:extLst>
          </p:cNvPr>
          <p:cNvSpPr txBox="1"/>
          <p:nvPr/>
        </p:nvSpPr>
        <p:spPr>
          <a:xfrm>
            <a:off x="250627" y="2443620"/>
            <a:ext cx="11763841" cy="40626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>
                <a:latin typeface="Rockwell"/>
              </a:rPr>
              <a:t>Les méthodes classiques sont sensibles aux changements (lumière, pose du visage..).</a:t>
            </a:r>
          </a:p>
          <a:p>
            <a:r>
              <a:rPr lang="fr-FR" sz="2000">
                <a:latin typeface="Rockwell"/>
              </a:rPr>
              <a:t>=&gt; Création de nouvelles approches plus modernes et efficaces</a:t>
            </a:r>
          </a:p>
          <a:p>
            <a:endParaRPr lang="fr-FR" sz="2000">
              <a:latin typeface="Rockwell"/>
            </a:endParaRPr>
          </a:p>
          <a:p>
            <a:pPr marL="342900" indent="-342900">
              <a:buAutoNum type="arabicPeriod"/>
            </a:pPr>
            <a:r>
              <a:rPr lang="fr-FR"/>
              <a:t>LBP (Local </a:t>
            </a:r>
            <a:r>
              <a:rPr lang="fr-FR" err="1"/>
              <a:t>Binary</a:t>
            </a:r>
            <a:r>
              <a:rPr lang="fr-FR"/>
              <a:t> Patterns)</a:t>
            </a:r>
          </a:p>
          <a:p>
            <a:r>
              <a:rPr lang="fr-FR"/>
              <a:t> - Méthode base sur la texture locale du visage</a:t>
            </a:r>
          </a:p>
          <a:p>
            <a:r>
              <a:rPr lang="fr-FR"/>
              <a:t> - Création de codes binaires décrivant la texture autour de chaque pixel</a:t>
            </a:r>
          </a:p>
          <a:p>
            <a:r>
              <a:rPr lang="fr-FR"/>
              <a:t> - Peu sensible aux variations de luminosité</a:t>
            </a:r>
          </a:p>
          <a:p>
            <a:r>
              <a:rPr lang="fr-FR"/>
              <a:t> - Capture les détails</a:t>
            </a:r>
          </a:p>
          <a:p>
            <a:r>
              <a:rPr lang="fr-FR"/>
              <a:t> - Insuffisant pour la reconnaissance faciale</a:t>
            </a:r>
          </a:p>
          <a:p>
            <a:endParaRPr lang="fr-FR"/>
          </a:p>
          <a:p>
            <a:r>
              <a:rPr lang="fr-FR"/>
              <a:t>2. SVM (Support </a:t>
            </a:r>
            <a:r>
              <a:rPr lang="fr-FR" err="1"/>
              <a:t>Vector</a:t>
            </a:r>
            <a:r>
              <a:rPr lang="fr-FR"/>
              <a:t> Machines)</a:t>
            </a:r>
          </a:p>
          <a:p>
            <a:r>
              <a:rPr lang="fr-FR"/>
              <a:t> - Création d'un classificateur SVM pour distinguer les visages</a:t>
            </a:r>
          </a:p>
          <a:p>
            <a:r>
              <a:rPr lang="fr-FR"/>
              <a:t> - Traçage de "frontières" entre les différents visages dans un espace de caractéristiques de plusieurs dimensions</a:t>
            </a:r>
          </a:p>
          <a:p>
            <a:r>
              <a:rPr lang="fr-FR"/>
              <a:t> - Peu sensible à la forte ressemblance entre 2 visages</a:t>
            </a:r>
          </a:p>
        </p:txBody>
      </p:sp>
    </p:spTree>
    <p:extLst>
      <p:ext uri="{BB962C8B-B14F-4D97-AF65-F5344CB8AC3E}">
        <p14:creationId xmlns:p14="http://schemas.microsoft.com/office/powerpoint/2010/main" val="17169689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E6B19-F40C-AA15-D2BF-139794146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5578A356-34E5-B3A8-F0B4-001E834A4FE0}"/>
              </a:ext>
            </a:extLst>
          </p:cNvPr>
          <p:cNvSpPr txBox="1"/>
          <p:nvPr/>
        </p:nvSpPr>
        <p:spPr>
          <a:xfrm>
            <a:off x="209438" y="425350"/>
            <a:ext cx="11763841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>
                <a:latin typeface="Rockwell"/>
              </a:rPr>
              <a:t>3. CNN (Réseaux des neurones convolutifs)</a:t>
            </a:r>
          </a:p>
          <a:p>
            <a:r>
              <a:rPr lang="fr-FR" sz="2000">
                <a:latin typeface="Rockwell"/>
              </a:rPr>
              <a:t> - Traitement à partir d'images bruts</a:t>
            </a:r>
          </a:p>
          <a:p>
            <a:r>
              <a:rPr lang="fr-FR" sz="2000">
                <a:latin typeface="Rockwell"/>
              </a:rPr>
              <a:t> - Extraction des caractéristiques non nécessaire</a:t>
            </a:r>
          </a:p>
          <a:p>
            <a:r>
              <a:rPr lang="fr-FR" sz="2000">
                <a:latin typeface="Rockwell"/>
              </a:rPr>
              <a:t> - Agit comme un cerveau artificiel -&gt; repère tout seul des motifs plus ou moins complexes</a:t>
            </a:r>
          </a:p>
          <a:p>
            <a:r>
              <a:rPr lang="fr-FR" sz="2000">
                <a:latin typeface="Rockwell"/>
              </a:rPr>
              <a:t> - Puissant mais gourmant en données et puissance de calculs</a:t>
            </a:r>
          </a:p>
          <a:p>
            <a:endParaRPr lang="fr-FR" sz="2000">
              <a:latin typeface="Rockwell"/>
            </a:endParaRPr>
          </a:p>
          <a:p>
            <a:r>
              <a:rPr lang="fr-FR" sz="2000">
                <a:latin typeface="Rockwell"/>
              </a:rPr>
              <a:t>Evolution des approches de la reconnaissance faciale =&gt; Progrès mathématiques, statistiques et IA</a:t>
            </a:r>
          </a:p>
        </p:txBody>
      </p:sp>
      <p:pic>
        <p:nvPicPr>
          <p:cNvPr id="8" name="Image 7" descr="Une image contenant clipart, illustration, dess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A6BB514C-5A59-94DC-4B86-CB2F41AD7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7510" y="3000810"/>
            <a:ext cx="3589639" cy="35896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age 8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30C1077F-1F6F-7E2B-3178-A69A720AC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680" y="2707239"/>
            <a:ext cx="5069508" cy="4182303"/>
          </a:xfrm>
          <a:prstGeom prst="rect">
            <a:avLst/>
          </a:prstGeom>
          <a:effectLst>
            <a:outerShdw blurRad="165100" dist="38100" dir="2700000">
              <a:srgbClr val="B2B2B2">
                <a:alpha val="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176504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733B16-98B6-C11D-67AD-54F4E34CB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>
                <a:latin typeface="Rockwell"/>
              </a:rPr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C9E989-B499-53CC-FC8D-3AAC9C43F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2587752"/>
            <a:ext cx="10268712" cy="314658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 sz="2000">
                <a:latin typeface="Rockwell"/>
                <a:ea typeface="+mn-lt"/>
                <a:cs typeface="+mn-lt"/>
              </a:rPr>
              <a:t>La reconnaissance faciale est un bon exemple d'utilisation des mathématiques dans le monde réel.</a:t>
            </a:r>
          </a:p>
          <a:p>
            <a:r>
              <a:rPr lang="fr-FR" sz="2000">
                <a:latin typeface="Rockwell"/>
                <a:ea typeface="+mn-lt"/>
                <a:cs typeface="+mn-lt"/>
              </a:rPr>
              <a:t>On a réussi à convertir une image de visage en une représentation numérique exploitable.</a:t>
            </a:r>
          </a:p>
          <a:p>
            <a:r>
              <a:rPr lang="fr-FR" sz="2000">
                <a:latin typeface="Rockwell"/>
                <a:ea typeface="+mn-lt"/>
                <a:cs typeface="+mn-lt"/>
              </a:rPr>
              <a:t>Les approches classiques (eigenfaces) enrichies par de nouvelles approches qui rendent la reconnaissance faciale plus puissante.</a:t>
            </a:r>
          </a:p>
          <a:p>
            <a:r>
              <a:rPr lang="fr-FR" sz="2000">
                <a:latin typeface="Rockwell"/>
                <a:ea typeface="+mn-lt"/>
                <a:cs typeface="+mn-lt"/>
              </a:rPr>
              <a:t>On utilise des outils mathématiques puissants et des techniques avancées de traitement d'images pour réaliser une tâche "simple".</a:t>
            </a:r>
          </a:p>
        </p:txBody>
      </p:sp>
    </p:spTree>
    <p:extLst>
      <p:ext uri="{BB962C8B-B14F-4D97-AF65-F5344CB8AC3E}">
        <p14:creationId xmlns:p14="http://schemas.microsoft.com/office/powerpoint/2010/main" val="6175260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83C4F7-EA9D-976E-7078-0C6883961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6000" b="1">
                <a:latin typeface="Rockwell"/>
              </a:rPr>
              <a:t>Sources utilisées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586500-153C-046F-B2B0-E5D2F64BE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fr-FR" sz="2000"/>
              <a:t>Travaux de </a:t>
            </a:r>
            <a:r>
              <a:rPr lang="fr-FR" sz="2000" err="1"/>
              <a:t>Bettahar</a:t>
            </a:r>
            <a:r>
              <a:rPr lang="fr-FR" sz="2000"/>
              <a:t> </a:t>
            </a:r>
            <a:r>
              <a:rPr lang="fr-FR" sz="2000" err="1"/>
              <a:t>Saber</a:t>
            </a:r>
            <a:r>
              <a:rPr lang="fr-FR" sz="2000"/>
              <a:t> :</a:t>
            </a:r>
          </a:p>
          <a:p>
            <a:r>
              <a:rPr lang="fr-FR" sz="2000">
                <a:ea typeface="+mn-lt"/>
                <a:cs typeface="+mn-lt"/>
                <a:hlinkClick r:id="rId2"/>
              </a:rPr>
              <a:t>https://dspace.univ-ouargla.dz/jspui/bitstream/123456789/5237/1/BETTAHAR-SABER.pdf</a:t>
            </a:r>
            <a:endParaRPr lang="fr-FR" sz="2000">
              <a:ea typeface="+mn-lt"/>
              <a:cs typeface="+mn-lt"/>
            </a:endParaRPr>
          </a:p>
          <a:p>
            <a:endParaRPr lang="fr-FR" sz="2000"/>
          </a:p>
          <a:p>
            <a:r>
              <a:rPr lang="fr-FR" sz="2000">
                <a:ea typeface="+mn-lt"/>
                <a:cs typeface="+mn-lt"/>
                <a:hlinkClick r:id="rId3"/>
              </a:rPr>
              <a:t>https://bssm.ulb.ac.be/data/books/Bssm-2011-Germain-Van-Bever.pdf</a:t>
            </a:r>
            <a:endParaRPr lang="fr-FR"/>
          </a:p>
          <a:p>
            <a:r>
              <a:rPr lang="fr-FR" sz="2000">
                <a:ea typeface="+mn-lt"/>
                <a:cs typeface="+mn-lt"/>
                <a:hlinkClick r:id="rId4"/>
              </a:rPr>
              <a:t>https://penseeartificielle.fr/tp-reconnaissance-faciale/</a:t>
            </a:r>
            <a:endParaRPr lang="fr-FR"/>
          </a:p>
          <a:p>
            <a:endParaRPr lang="fr-FR" sz="2000"/>
          </a:p>
          <a:p>
            <a:r>
              <a:rPr lang="fr-FR" sz="2000">
                <a:ea typeface="+mn-lt"/>
                <a:cs typeface="+mn-lt"/>
                <a:hlinkClick r:id="rId5"/>
              </a:rPr>
              <a:t>https://fr.wikipedia.org/wiki/Syst%C3%A8me_de_reconnaissance_faciale</a:t>
            </a:r>
            <a:endParaRPr lang="fr-FR"/>
          </a:p>
          <a:p>
            <a:endParaRPr lang="fr-FR" sz="2000"/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2312588"/>
      </p:ext>
    </p:extLst>
  </p:cSld>
  <p:clrMapOvr>
    <a:masterClrMapping/>
  </p:clrMapOvr>
</p:sld>
</file>

<file path=ppt/theme/theme1.xml><?xml version="1.0" encoding="utf-8"?>
<a:theme xmlns:a="http://schemas.openxmlformats.org/drawingml/2006/main" name="JuxtaposeVTI">
  <a:themeElements>
    <a:clrScheme name="JuxtaposeVTI">
      <a:dk1>
        <a:sysClr val="windowText" lastClr="000000"/>
      </a:dk1>
      <a:lt1>
        <a:sysClr val="window" lastClr="FFFFFF"/>
      </a:lt1>
      <a:dk2>
        <a:srgbClr val="3F3F3F"/>
      </a:dk2>
      <a:lt2>
        <a:srgbClr val="F8F7F5"/>
      </a:lt2>
      <a:accent1>
        <a:srgbClr val="F99700"/>
      </a:accent1>
      <a:accent2>
        <a:srgbClr val="00BAC7"/>
      </a:accent2>
      <a:accent3>
        <a:srgbClr val="FF5C21"/>
      </a:accent3>
      <a:accent4>
        <a:srgbClr val="6F7EFD"/>
      </a:accent4>
      <a:accent5>
        <a:srgbClr val="ACACAC"/>
      </a:accent5>
      <a:accent6>
        <a:srgbClr val="737373"/>
      </a:accent6>
      <a:hlink>
        <a:srgbClr val="0099FF"/>
      </a:hlink>
      <a:folHlink>
        <a:srgbClr val="868686"/>
      </a:folHlink>
    </a:clrScheme>
    <a:fontScheme name="JuxtaposeVTI">
      <a:majorFont>
        <a:latin typeface="Franklin Gothic Demi Cond" panose="020B0706030402020204"/>
        <a:ea typeface=""/>
        <a:cs typeface=""/>
      </a:majorFont>
      <a:minorFont>
        <a:latin typeface="Franklin Gothic Medium" panose="020B0603020102020204"/>
        <a:ea typeface=""/>
        <a:cs typeface=""/>
      </a:minorFont>
    </a:fontScheme>
    <a:fmtScheme name="Juxtapos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B0236716-CA63-41C1-B6AD-997AE15F064B}" vid="{0E0AE8FC-D493-434E-BDCC-ED5FFB2DAEE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Grand écran</PresentationFormat>
  <Slides>26</Slides>
  <Notes>0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27" baseType="lpstr">
      <vt:lpstr>JuxtaposeVTI</vt:lpstr>
      <vt:lpstr>Du pixel au visage Comment les matrices et les vecteurs aident à reconnaître les visages ?</vt:lpstr>
      <vt:lpstr>introducTION</vt:lpstr>
      <vt:lpstr>Sommaire</vt:lpstr>
      <vt:lpstr>I - Représentation mathématique des images</vt:lpstr>
      <vt:lpstr>Présentation PowerPoint</vt:lpstr>
      <vt:lpstr>Présentation PowerPoint</vt:lpstr>
      <vt:lpstr>Présentation PowerPoint</vt:lpstr>
      <vt:lpstr>II - Matrice de covariance et complexité algorithmique </vt:lpstr>
      <vt:lpstr>Présentation PowerPoint</vt:lpstr>
      <vt:lpstr>Présentation PowerPoint</vt:lpstr>
      <vt:lpstr>Présentation PowerPoint</vt:lpstr>
      <vt:lpstr>Présentation PowerPoint</vt:lpstr>
      <vt:lpstr>III - Décomposition en valeurs propres et réduction de dimension</vt:lpstr>
      <vt:lpstr>Présentation PowerPoint</vt:lpstr>
      <vt:lpstr>Présentation PowerPoint</vt:lpstr>
      <vt:lpstr>Présentation PowerPoint</vt:lpstr>
      <vt:lpstr>IV - Projection orthogonal et reconstruction des visages</vt:lpstr>
      <vt:lpstr>Présentation PowerPoint</vt:lpstr>
      <vt:lpstr>V - Critères de Similarité et Classification</vt:lpstr>
      <vt:lpstr>Présentation PowerPoint</vt:lpstr>
      <vt:lpstr>Présentation PowerPoint</vt:lpstr>
      <vt:lpstr>Présentation PowerPoint</vt:lpstr>
      <vt:lpstr>VI - Nouvelles approches pour la reconnaissance faciale.</vt:lpstr>
      <vt:lpstr>Présentation PowerPoint</vt:lpstr>
      <vt:lpstr>CONCLUSION</vt:lpstr>
      <vt:lpstr>Sources utilisées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</cp:revision>
  <dcterms:created xsi:type="dcterms:W3CDTF">2025-03-18T21:27:45Z</dcterms:created>
  <dcterms:modified xsi:type="dcterms:W3CDTF">2026-03-28T17:55:54Z</dcterms:modified>
</cp:coreProperties>
</file>